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90134" y="-996553"/>
            <a:ext cx="3064669" cy="3064669"/>
          </a:xfrm>
          <a:prstGeom prst="ellipse">
            <a:avLst/>
          </a:prstGeom>
          <a:noFill/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7204472" y="-582216"/>
            <a:ext cx="2235994" cy="2235994"/>
          </a:xfrm>
          <a:prstGeom prst="ellipse">
            <a:avLst/>
          </a:prstGeom>
          <a:noFill/>
          <a:ln w="7144">
            <a:solidFill>
              <a:srgbClr val="22D3EE"/>
            </a:solidFill>
            <a:prstDash val="dash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7647384" y="-139303"/>
            <a:ext cx="1350169" cy="1350169"/>
          </a:xfrm>
          <a:prstGeom prst="ellipse">
            <a:avLst/>
          </a:prstGeom>
          <a:noFill/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2469" y="-942975"/>
            <a:ext cx="7144" cy="2957513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3713" y="535781"/>
            <a:ext cx="2957513" cy="714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290322" y="503634"/>
            <a:ext cx="64294" cy="64294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171450" dist="50800" dir="16200000">
              <a:srgbClr val="22D3EE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4"/>
          <p:cNvSpPr/>
          <p:nvPr/>
        </p:nvSpPr>
        <p:spPr>
          <a:xfrm>
            <a:off x="457200" y="4804172"/>
            <a:ext cx="822960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457200" y="4879181"/>
            <a:ext cx="7085261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Interactive QEC Simulator — Phase 1 + Phase 2</a:t>
            </a:r>
            <a:endParaRPr lang="en-US" sz="800" dirty="0"/>
          </a:p>
        </p:txBody>
      </p:sp>
      <p:sp>
        <p:nvSpPr>
          <p:cNvPr id="11" name="Text 6"/>
          <p:cNvSpPr/>
          <p:nvPr/>
        </p:nvSpPr>
        <p:spPr>
          <a:xfrm>
            <a:off x="7556748" y="4879181"/>
            <a:ext cx="119785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AMRITA VISHWA VIDYAPEETHAM</a:t>
            </a:r>
            <a:endParaRPr lang="en-US" sz="600" dirty="0"/>
          </a:p>
        </p:txBody>
      </p:sp>
      <p:sp>
        <p:nvSpPr>
          <p:cNvPr id="12" name="Text 7"/>
          <p:cNvSpPr/>
          <p:nvPr/>
        </p:nvSpPr>
        <p:spPr>
          <a:xfrm>
            <a:off x="460772" y="375047"/>
            <a:ext cx="1764171" cy="210741"/>
          </a:xfrm>
          <a:prstGeom prst="roundRect">
            <a:avLst>
              <a:gd name="adj" fmla="val 4515246"/>
            </a:avLst>
          </a:prstGeom>
          <a:solidFill>
            <a:srgbClr val="8B5CF6">
              <a:alpha val="12000"/>
            </a:srgbClr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457200" y="371475"/>
            <a:ext cx="1814178" cy="304246"/>
          </a:xfrm>
          <a:prstGeom prst="rect">
            <a:avLst/>
          </a:prstGeom>
          <a:noFill/>
          <a:ln/>
        </p:spPr>
        <p:txBody>
          <a:bodyPr wrap="none" lIns="100013" tIns="42863" rIns="100013" bIns="42863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C4B5F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PHASE 1 · PROJECT PROPOSAL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2317812" y="375047"/>
            <a:ext cx="2363019" cy="210741"/>
          </a:xfrm>
          <a:prstGeom prst="roundRect">
            <a:avLst>
              <a:gd name="adj" fmla="val 4515246"/>
            </a:avLst>
          </a:prstGeom>
          <a:solidFill>
            <a:srgbClr val="22D3EE">
              <a:alpha val="8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2314240" y="371475"/>
            <a:ext cx="6372560" cy="304246"/>
          </a:xfrm>
          <a:prstGeom prst="rect">
            <a:avLst/>
          </a:prstGeom>
          <a:noFill/>
          <a:ln/>
        </p:spPr>
        <p:txBody>
          <a:bodyPr wrap="square" lIns="100013" tIns="42863" rIns="100013" bIns="42863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7DD3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PHASE 2 · PROTOTYPE CONTINUES INSIDE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457200" y="860822"/>
            <a:ext cx="7000875" cy="891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3038" b="1" spc="-46" kern="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Interactive </a:t>
            </a:r>
            <a:pPr algn="l" indent="0" marL="0">
              <a:lnSpc>
                <a:spcPts val="3250"/>
              </a:lnSpc>
              <a:buNone/>
            </a:pPr>
            <a:r>
              <a:rPr lang="en-US" sz="3038" b="1" spc="-46" kern="0" dirty="0">
                <a:solidFill>
                  <a:srgbClr val="A78B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Quantum Error Correction</a:t>
            </a:r>
            <a:pPr algn="l" indent="0" marL="0">
              <a:lnSpc>
                <a:spcPts val="3250"/>
              </a:lnSpc>
              <a:buNone/>
            </a:pPr>
            <a:r>
              <a:rPr lang="en-US" sz="3038" b="1" spc="-46" kern="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Simulator</a:t>
            </a:r>
            <a:endParaRPr lang="en-US" sz="3038" dirty="0"/>
          </a:p>
        </p:txBody>
      </p:sp>
      <p:sp>
        <p:nvSpPr>
          <p:cNvPr id="17" name="Text 12"/>
          <p:cNvSpPr/>
          <p:nvPr/>
        </p:nvSpPr>
        <p:spPr>
          <a:xfrm>
            <a:off x="457200" y="1814736"/>
            <a:ext cx="6643688" cy="43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9"/>
              </a:lnSpc>
              <a:buNone/>
            </a:pPr>
            <a:r>
              <a:rPr lang="en-US" sz="1013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configurable environment for simulating quantum noise models and evaluating QEC performance — scoped exactly to our Python reference program (Qiskit + Aer).</a:t>
            </a:r>
            <a:endParaRPr lang="en-US" sz="1013" dirty="0"/>
          </a:p>
        </p:txBody>
      </p:sp>
      <p:sp>
        <p:nvSpPr>
          <p:cNvPr id="18" name="Text 13"/>
          <p:cNvSpPr/>
          <p:nvPr/>
        </p:nvSpPr>
        <p:spPr>
          <a:xfrm>
            <a:off x="457200" y="2387923"/>
            <a:ext cx="631887" cy="206026"/>
          </a:xfrm>
          <a:prstGeom prst="roundRect">
            <a:avLst>
              <a:gd name="adj" fmla="val 4618580"/>
            </a:avLst>
          </a:prstGeom>
          <a:solidFill>
            <a:srgbClr val="22D3EE">
              <a:alpha val="8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417279" y="2398961"/>
            <a:ext cx="711728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QEC codes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1174812" y="2387923"/>
            <a:ext cx="690265" cy="206026"/>
          </a:xfrm>
          <a:prstGeom prst="roundRect">
            <a:avLst>
              <a:gd name="adj" fmla="val 4618580"/>
            </a:avLst>
          </a:prstGeom>
          <a:solidFill>
            <a:srgbClr val="8B5CF6">
              <a:alpha val="12000"/>
            </a:srgbClr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1088551" y="2398961"/>
            <a:ext cx="862787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C4B5F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noise models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1950802" y="2387923"/>
            <a:ext cx="840395" cy="206026"/>
          </a:xfrm>
          <a:prstGeom prst="roundRect">
            <a:avLst>
              <a:gd name="adj" fmla="val 4618580"/>
            </a:avLst>
          </a:prstGeom>
          <a:solidFill>
            <a:srgbClr val="22D3EE">
              <a:alpha val="8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8"/>
          <p:cNvSpPr/>
          <p:nvPr/>
        </p:nvSpPr>
        <p:spPr>
          <a:xfrm>
            <a:off x="1950802" y="2398961"/>
            <a:ext cx="840395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Monte Carlo engine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2876922" y="2387923"/>
            <a:ext cx="907145" cy="206026"/>
          </a:xfrm>
          <a:prstGeom prst="roundRect">
            <a:avLst>
              <a:gd name="adj" fmla="val 4618580"/>
            </a:avLst>
          </a:prstGeom>
          <a:solidFill>
            <a:srgbClr val="8B5CF6">
              <a:alpha val="12000"/>
            </a:srgbClr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2876922" y="2398961"/>
            <a:ext cx="907145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C4B5F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 Bloch-sphere lab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460772" y="2857946"/>
            <a:ext cx="8222456" cy="746522"/>
          </a:xfrm>
          <a:prstGeom prst="roundRect">
            <a:avLst>
              <a:gd name="adj" fmla="val 17863"/>
            </a:avLst>
          </a:prstGeom>
          <a:solidFill>
            <a:srgbClr val="0D0B1C">
              <a:alpha val="55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2"/>
          <p:cNvSpPr/>
          <p:nvPr/>
        </p:nvSpPr>
        <p:spPr>
          <a:xfrm>
            <a:off x="592931" y="2961531"/>
            <a:ext cx="8067865" cy="1458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139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END-TO-END PIPELINE — 8 STAGES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596503" y="3138339"/>
            <a:ext cx="868859" cy="344686"/>
          </a:xfrm>
          <a:prstGeom prst="roundRect">
            <a:avLst>
              <a:gd name="adj" fmla="val 24870"/>
            </a:avLst>
          </a:prstGeom>
          <a:solidFill>
            <a:srgbClr val="22D3EE">
              <a:alpha val="12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4"/>
          <p:cNvSpPr/>
          <p:nvPr/>
        </p:nvSpPr>
        <p:spPr>
          <a:xfrm>
            <a:off x="614363" y="3199061"/>
            <a:ext cx="8331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717"/>
              </a:lnSpc>
              <a:buNone/>
            </a:pPr>
            <a:r>
              <a:rPr lang="en-US" sz="800" spc="105" kern="0" dirty="0">
                <a:solidFill>
                  <a:srgbClr val="7DD3FC">
                    <a:alpha val="72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614363" y="3311575"/>
            <a:ext cx="83314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Input</a:t>
            </a:r>
            <a:endParaRPr lang="en-US" sz="800" dirty="0"/>
          </a:p>
        </p:txBody>
      </p:sp>
      <p:sp>
        <p:nvSpPr>
          <p:cNvPr id="31" name="Text 26"/>
          <p:cNvSpPr/>
          <p:nvPr/>
        </p:nvSpPr>
        <p:spPr>
          <a:xfrm>
            <a:off x="1483221" y="3257104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94A3B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1055" dirty="0"/>
          </a:p>
        </p:txBody>
      </p:sp>
      <p:sp>
        <p:nvSpPr>
          <p:cNvPr id="32" name="Text 27"/>
          <p:cNvSpPr/>
          <p:nvPr/>
        </p:nvSpPr>
        <p:spPr>
          <a:xfrm>
            <a:off x="1608237" y="3138339"/>
            <a:ext cx="868859" cy="344686"/>
          </a:xfrm>
          <a:prstGeom prst="roundRect">
            <a:avLst>
              <a:gd name="adj" fmla="val 24870"/>
            </a:avLst>
          </a:prstGeom>
          <a:solidFill>
            <a:srgbClr val="8B5CF6">
              <a:alpha val="14000"/>
            </a:srgbClr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8"/>
          <p:cNvSpPr/>
          <p:nvPr/>
        </p:nvSpPr>
        <p:spPr>
          <a:xfrm>
            <a:off x="1626096" y="3199061"/>
            <a:ext cx="8331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717"/>
              </a:lnSpc>
              <a:buNone/>
            </a:pPr>
            <a:r>
              <a:rPr lang="en-US" sz="800" spc="105" kern="0" dirty="0">
                <a:solidFill>
                  <a:srgbClr val="C4B5FD">
                    <a:alpha val="72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34" name="Text 29"/>
          <p:cNvSpPr/>
          <p:nvPr/>
        </p:nvSpPr>
        <p:spPr>
          <a:xfrm>
            <a:off x="1626096" y="3311575"/>
            <a:ext cx="83314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Encoding</a:t>
            </a:r>
            <a:endParaRPr lang="en-US" sz="800" dirty="0"/>
          </a:p>
        </p:txBody>
      </p:sp>
      <p:sp>
        <p:nvSpPr>
          <p:cNvPr id="35" name="Text 30"/>
          <p:cNvSpPr/>
          <p:nvPr/>
        </p:nvSpPr>
        <p:spPr>
          <a:xfrm>
            <a:off x="2494955" y="3257104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94A3B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1055" dirty="0"/>
          </a:p>
        </p:txBody>
      </p:sp>
      <p:sp>
        <p:nvSpPr>
          <p:cNvPr id="36" name="Text 31"/>
          <p:cNvSpPr/>
          <p:nvPr/>
        </p:nvSpPr>
        <p:spPr>
          <a:xfrm>
            <a:off x="2619970" y="3138339"/>
            <a:ext cx="868859" cy="344686"/>
          </a:xfrm>
          <a:prstGeom prst="roundRect">
            <a:avLst>
              <a:gd name="adj" fmla="val 24870"/>
            </a:avLst>
          </a:prstGeom>
          <a:solidFill>
            <a:srgbClr val="8B5CF6">
              <a:alpha val="14000"/>
            </a:srgbClr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2"/>
          <p:cNvSpPr/>
          <p:nvPr/>
        </p:nvSpPr>
        <p:spPr>
          <a:xfrm>
            <a:off x="2637830" y="3199061"/>
            <a:ext cx="8331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717"/>
              </a:lnSpc>
              <a:buNone/>
            </a:pPr>
            <a:r>
              <a:rPr lang="en-US" sz="800" spc="105" kern="0" dirty="0">
                <a:solidFill>
                  <a:srgbClr val="C4B5FD">
                    <a:alpha val="72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38" name="Text 33"/>
          <p:cNvSpPr/>
          <p:nvPr/>
        </p:nvSpPr>
        <p:spPr>
          <a:xfrm>
            <a:off x="2637830" y="3311575"/>
            <a:ext cx="83314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Noise Model</a:t>
            </a:r>
            <a:endParaRPr lang="en-US" sz="800" dirty="0"/>
          </a:p>
        </p:txBody>
      </p:sp>
      <p:sp>
        <p:nvSpPr>
          <p:cNvPr id="39" name="Text 34"/>
          <p:cNvSpPr/>
          <p:nvPr/>
        </p:nvSpPr>
        <p:spPr>
          <a:xfrm>
            <a:off x="3506688" y="3257104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94A3B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1055" dirty="0"/>
          </a:p>
        </p:txBody>
      </p:sp>
      <p:sp>
        <p:nvSpPr>
          <p:cNvPr id="40" name="Text 35"/>
          <p:cNvSpPr/>
          <p:nvPr/>
        </p:nvSpPr>
        <p:spPr>
          <a:xfrm>
            <a:off x="3631704" y="3138339"/>
            <a:ext cx="868859" cy="344686"/>
          </a:xfrm>
          <a:prstGeom prst="roundRect">
            <a:avLst>
              <a:gd name="adj" fmla="val 24870"/>
            </a:avLst>
          </a:prstGeom>
          <a:solidFill>
            <a:srgbClr val="8B5CF6">
              <a:alpha val="14000"/>
            </a:srgbClr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6"/>
          <p:cNvSpPr/>
          <p:nvPr/>
        </p:nvSpPr>
        <p:spPr>
          <a:xfrm>
            <a:off x="3649563" y="3199061"/>
            <a:ext cx="8331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717"/>
              </a:lnSpc>
              <a:buNone/>
            </a:pPr>
            <a:r>
              <a:rPr lang="en-US" sz="800" spc="105" kern="0" dirty="0">
                <a:solidFill>
                  <a:srgbClr val="C4B5FD">
                    <a:alpha val="72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42" name="Text 37"/>
          <p:cNvSpPr/>
          <p:nvPr/>
        </p:nvSpPr>
        <p:spPr>
          <a:xfrm>
            <a:off x="3649563" y="3311575"/>
            <a:ext cx="83314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Syndrome</a:t>
            </a:r>
            <a:endParaRPr lang="en-US" sz="800" dirty="0"/>
          </a:p>
        </p:txBody>
      </p:sp>
      <p:sp>
        <p:nvSpPr>
          <p:cNvPr id="43" name="Text 38"/>
          <p:cNvSpPr/>
          <p:nvPr/>
        </p:nvSpPr>
        <p:spPr>
          <a:xfrm>
            <a:off x="4518422" y="3257104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94A3B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1055" dirty="0"/>
          </a:p>
        </p:txBody>
      </p:sp>
      <p:sp>
        <p:nvSpPr>
          <p:cNvPr id="44" name="Text 39"/>
          <p:cNvSpPr/>
          <p:nvPr/>
        </p:nvSpPr>
        <p:spPr>
          <a:xfrm>
            <a:off x="4643438" y="3138339"/>
            <a:ext cx="868859" cy="344686"/>
          </a:xfrm>
          <a:prstGeom prst="roundRect">
            <a:avLst>
              <a:gd name="adj" fmla="val 24870"/>
            </a:avLst>
          </a:prstGeom>
          <a:solidFill>
            <a:srgbClr val="8B5CF6">
              <a:alpha val="14000"/>
            </a:srgbClr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0"/>
          <p:cNvSpPr/>
          <p:nvPr/>
        </p:nvSpPr>
        <p:spPr>
          <a:xfrm>
            <a:off x="4661297" y="3199061"/>
            <a:ext cx="8331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717"/>
              </a:lnSpc>
              <a:buNone/>
            </a:pPr>
            <a:r>
              <a:rPr lang="en-US" sz="800" spc="105" kern="0" dirty="0">
                <a:solidFill>
                  <a:srgbClr val="C4B5FD">
                    <a:alpha val="72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46" name="Text 41"/>
          <p:cNvSpPr/>
          <p:nvPr/>
        </p:nvSpPr>
        <p:spPr>
          <a:xfrm>
            <a:off x="4661297" y="3311575"/>
            <a:ext cx="83314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Correction</a:t>
            </a:r>
            <a:endParaRPr lang="en-US" sz="800" dirty="0"/>
          </a:p>
        </p:txBody>
      </p:sp>
      <p:sp>
        <p:nvSpPr>
          <p:cNvPr id="47" name="Text 42"/>
          <p:cNvSpPr/>
          <p:nvPr/>
        </p:nvSpPr>
        <p:spPr>
          <a:xfrm>
            <a:off x="5530155" y="3257104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94A3B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1055" dirty="0"/>
          </a:p>
        </p:txBody>
      </p:sp>
      <p:sp>
        <p:nvSpPr>
          <p:cNvPr id="48" name="Text 43"/>
          <p:cNvSpPr/>
          <p:nvPr/>
        </p:nvSpPr>
        <p:spPr>
          <a:xfrm>
            <a:off x="5655171" y="3138339"/>
            <a:ext cx="868859" cy="344686"/>
          </a:xfrm>
          <a:prstGeom prst="roundRect">
            <a:avLst>
              <a:gd name="adj" fmla="val 24870"/>
            </a:avLst>
          </a:prstGeom>
          <a:solidFill>
            <a:srgbClr val="8B5CF6">
              <a:alpha val="14000"/>
            </a:srgbClr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4"/>
          <p:cNvSpPr/>
          <p:nvPr/>
        </p:nvSpPr>
        <p:spPr>
          <a:xfrm>
            <a:off x="5673030" y="3199061"/>
            <a:ext cx="8331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717"/>
              </a:lnSpc>
              <a:buNone/>
            </a:pPr>
            <a:r>
              <a:rPr lang="en-US" sz="800" spc="105" kern="0" dirty="0">
                <a:solidFill>
                  <a:srgbClr val="C4B5FD">
                    <a:alpha val="72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800" dirty="0"/>
          </a:p>
        </p:txBody>
      </p:sp>
      <p:sp>
        <p:nvSpPr>
          <p:cNvPr id="50" name="Text 45"/>
          <p:cNvSpPr/>
          <p:nvPr/>
        </p:nvSpPr>
        <p:spPr>
          <a:xfrm>
            <a:off x="5673030" y="3311575"/>
            <a:ext cx="83314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Decoding</a:t>
            </a:r>
            <a:endParaRPr lang="en-US" sz="800" dirty="0"/>
          </a:p>
        </p:txBody>
      </p:sp>
      <p:sp>
        <p:nvSpPr>
          <p:cNvPr id="51" name="Text 46"/>
          <p:cNvSpPr/>
          <p:nvPr/>
        </p:nvSpPr>
        <p:spPr>
          <a:xfrm>
            <a:off x="6541889" y="3257104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94A3B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1055" dirty="0"/>
          </a:p>
        </p:txBody>
      </p:sp>
      <p:sp>
        <p:nvSpPr>
          <p:cNvPr id="52" name="Text 47"/>
          <p:cNvSpPr/>
          <p:nvPr/>
        </p:nvSpPr>
        <p:spPr>
          <a:xfrm>
            <a:off x="6666905" y="3138339"/>
            <a:ext cx="868859" cy="344686"/>
          </a:xfrm>
          <a:prstGeom prst="roundRect">
            <a:avLst>
              <a:gd name="adj" fmla="val 24870"/>
            </a:avLst>
          </a:prstGeom>
          <a:solidFill>
            <a:srgbClr val="8B5CF6">
              <a:alpha val="14000"/>
            </a:srgbClr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48"/>
          <p:cNvSpPr/>
          <p:nvPr/>
        </p:nvSpPr>
        <p:spPr>
          <a:xfrm>
            <a:off x="6684764" y="3199061"/>
            <a:ext cx="8331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717"/>
              </a:lnSpc>
              <a:buNone/>
            </a:pPr>
            <a:r>
              <a:rPr lang="en-US" sz="800" spc="105" kern="0" dirty="0">
                <a:solidFill>
                  <a:srgbClr val="C4B5FD">
                    <a:alpha val="72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</a:t>
            </a:r>
            <a:endParaRPr lang="en-US" sz="800" dirty="0"/>
          </a:p>
        </p:txBody>
      </p:sp>
      <p:sp>
        <p:nvSpPr>
          <p:cNvPr id="54" name="Text 49"/>
          <p:cNvSpPr/>
          <p:nvPr/>
        </p:nvSpPr>
        <p:spPr>
          <a:xfrm>
            <a:off x="6684764" y="3311575"/>
            <a:ext cx="83314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Measurement</a:t>
            </a:r>
            <a:endParaRPr lang="en-US" sz="800" dirty="0"/>
          </a:p>
        </p:txBody>
      </p:sp>
      <p:sp>
        <p:nvSpPr>
          <p:cNvPr id="55" name="Text 50"/>
          <p:cNvSpPr/>
          <p:nvPr/>
        </p:nvSpPr>
        <p:spPr>
          <a:xfrm>
            <a:off x="7553623" y="3257104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94A3B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1055" dirty="0"/>
          </a:p>
        </p:txBody>
      </p:sp>
      <p:sp>
        <p:nvSpPr>
          <p:cNvPr id="56" name="Text 51"/>
          <p:cNvSpPr/>
          <p:nvPr/>
        </p:nvSpPr>
        <p:spPr>
          <a:xfrm>
            <a:off x="7678638" y="3138339"/>
            <a:ext cx="868859" cy="344686"/>
          </a:xfrm>
          <a:prstGeom prst="roundRect">
            <a:avLst>
              <a:gd name="adj" fmla="val 24870"/>
            </a:avLst>
          </a:prstGeom>
          <a:solidFill>
            <a:srgbClr val="34D399">
              <a:alpha val="12000"/>
            </a:srgbClr>
          </a:solidFill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2"/>
          <p:cNvSpPr/>
          <p:nvPr/>
        </p:nvSpPr>
        <p:spPr>
          <a:xfrm>
            <a:off x="7696498" y="3199061"/>
            <a:ext cx="8331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717"/>
              </a:lnSpc>
              <a:buNone/>
            </a:pPr>
            <a:r>
              <a:rPr lang="en-US" sz="800" spc="105" kern="0" dirty="0">
                <a:solidFill>
                  <a:srgbClr val="6EE7B7">
                    <a:alpha val="72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</a:t>
            </a:r>
            <a:endParaRPr lang="en-US" sz="800" dirty="0"/>
          </a:p>
        </p:txBody>
      </p:sp>
      <p:sp>
        <p:nvSpPr>
          <p:cNvPr id="58" name="Text 53"/>
          <p:cNvSpPr/>
          <p:nvPr/>
        </p:nvSpPr>
        <p:spPr>
          <a:xfrm>
            <a:off x="7696498" y="3311575"/>
            <a:ext cx="83314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Performance</a:t>
            </a:r>
            <a:endParaRPr lang="en-US" sz="800" dirty="0"/>
          </a:p>
        </p:txBody>
      </p:sp>
      <p:sp>
        <p:nvSpPr>
          <p:cNvPr id="59" name="Text 54"/>
          <p:cNvSpPr/>
          <p:nvPr/>
        </p:nvSpPr>
        <p:spPr>
          <a:xfrm>
            <a:off x="457200" y="4061222"/>
            <a:ext cx="8636000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spc="287" kern="0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AMRITA VISHWA VIDYAPEETHAM</a:t>
            </a:r>
            <a:endParaRPr lang="en-US" sz="844" dirty="0"/>
          </a:p>
        </p:txBody>
      </p:sp>
      <p:sp>
        <p:nvSpPr>
          <p:cNvPr id="60" name="Text 55"/>
          <p:cNvSpPr/>
          <p:nvPr/>
        </p:nvSpPr>
        <p:spPr>
          <a:xfrm>
            <a:off x="457200" y="430053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K. Devendra Reddy · CH.SC.U4CSE24021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Shaik Muzzammil · CH.SC.U4CSE24041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D. Guna Samhith · CH.SC.U4CSE24016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1846325"/>
            <a:ext cx="2647876" cy="0"/>
          </a:xfrm>
          <a:prstGeom prst="line">
            <a:avLst/>
          </a:prstGeom>
          <a:noFill/>
          <a:ln w="14288">
            <a:solidFill>
              <a:srgbClr val="8B5CF6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101504" y="1839181"/>
            <a:ext cx="0" cy="1759707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3595315"/>
            <a:ext cx="2647876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60772" y="1839181"/>
            <a:ext cx="0" cy="1759707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247951" y="1846325"/>
            <a:ext cx="2647987" cy="0"/>
          </a:xfrm>
          <a:prstGeom prst="line">
            <a:avLst/>
          </a:prstGeom>
          <a:noFill/>
          <a:ln w="14288">
            <a:solidFill>
              <a:srgbClr val="22D3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892366" y="1839181"/>
            <a:ext cx="0" cy="1759707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47951" y="3595315"/>
            <a:ext cx="2647987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51522" y="1839181"/>
            <a:ext cx="0" cy="1759707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038813" y="1846325"/>
            <a:ext cx="2647876" cy="0"/>
          </a:xfrm>
          <a:prstGeom prst="line">
            <a:avLst/>
          </a:prstGeom>
          <a:noFill/>
          <a:ln w="14288">
            <a:solidFill>
              <a:srgbClr val="FBBF2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683117" y="1839181"/>
            <a:ext cx="0" cy="1759707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38813" y="3595315"/>
            <a:ext cx="2647876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042385" y="1839181"/>
            <a:ext cx="0" cy="1759707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371475"/>
            <a:ext cx="8636000" cy="1422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PHASE 1 · INTRODUCTION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57200" y="541139"/>
            <a:ext cx="8636000" cy="41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025" b="1" spc="-20" kern="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quantum computers need error correction</a:t>
            </a:r>
            <a:endParaRPr lang="en-US" sz="2025" dirty="0"/>
          </a:p>
        </p:txBody>
      </p:sp>
      <p:sp>
        <p:nvSpPr>
          <p:cNvPr id="17" name="Text 14"/>
          <p:cNvSpPr/>
          <p:nvPr/>
        </p:nvSpPr>
        <p:spPr>
          <a:xfrm>
            <a:off x="457200" y="1041202"/>
            <a:ext cx="778668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qubit stores information in a superposition that no-cloning forbids us to back up. Real hardware flips values </a:t>
            </a:r>
            <a:pPr algn="l" indent="0" marL="0">
              <a:lnSpc>
                <a:spcPts val="1350"/>
              </a:lnSpc>
              <a:buNone/>
            </a:pPr>
            <a:r>
              <a:rPr lang="en-US" sz="802" dirty="0">
                <a:solidFill>
                  <a:srgbClr val="DB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(X)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flips phases </a:t>
            </a:r>
            <a:pPr algn="l" indent="0" marL="0">
              <a:lnSpc>
                <a:spcPts val="1350"/>
              </a:lnSpc>
              <a:buNone/>
            </a:pPr>
            <a:r>
              <a:rPr lang="en-US" sz="802" dirty="0">
                <a:solidFill>
                  <a:srgbClr val="DB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(Z)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mixes both (depolarizing) — without correction, quantum data melts within a handful of gates.</a:t>
            </a:r>
            <a:endParaRPr lang="en-US" sz="844" dirty="0"/>
          </a:p>
        </p:txBody>
      </p:sp>
      <p:sp>
        <p:nvSpPr>
          <p:cNvPr id="18" name="Text 15"/>
          <p:cNvSpPr/>
          <p:nvPr/>
        </p:nvSpPr>
        <p:spPr>
          <a:xfrm>
            <a:off x="457200" y="1839181"/>
            <a:ext cx="2647876" cy="1759707"/>
          </a:xfrm>
          <a:prstGeom prst="roundRect">
            <a:avLst>
              <a:gd name="adj" fmla="val 7578"/>
            </a:avLst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625078" y="2014203"/>
            <a:ext cx="250031" cy="250031"/>
          </a:xfrm>
          <a:prstGeom prst="ellipse">
            <a:avLst/>
          </a:prstGeom>
          <a:solidFill>
            <a:srgbClr val="8B5CF6">
              <a:alpha val="16000"/>
            </a:srgbClr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651689" y="2040813"/>
            <a:ext cx="196810" cy="196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C4B5F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336" dirty="0"/>
          </a:p>
        </p:txBody>
      </p:sp>
      <p:sp>
        <p:nvSpPr>
          <p:cNvPr id="21" name="Text 18"/>
          <p:cNvSpPr/>
          <p:nvPr/>
        </p:nvSpPr>
        <p:spPr>
          <a:xfrm>
            <a:off x="964406" y="2042778"/>
            <a:ext cx="1976363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enemy — noise</a:t>
            </a:r>
            <a:endParaRPr lang="en-US" sz="1013" dirty="0"/>
          </a:p>
        </p:txBody>
      </p:sp>
      <p:sp>
        <p:nvSpPr>
          <p:cNvPr id="22" name="Text 19"/>
          <p:cNvSpPr/>
          <p:nvPr/>
        </p:nvSpPr>
        <p:spPr>
          <a:xfrm>
            <a:off x="621506" y="2367818"/>
            <a:ext cx="2319263" cy="812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Bit-flip (X) turns </a:t>
            </a:r>
            <a:pPr algn="l" indent="0" marL="0">
              <a:lnSpc>
                <a:spcPts val="1323"/>
              </a:lnSpc>
              <a:buNone/>
            </a:pPr>
            <a:r>
              <a:rPr lang="en-US" sz="800" dirty="0">
                <a:solidFill>
                  <a:srgbClr val="DB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|0&gt;</a:t>
            </a:r>
            <a:pPr algn="l" indent="0" marL="0">
              <a:lnSpc>
                <a:spcPts val="132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into </a:t>
            </a:r>
            <a:pPr algn="l" indent="0" marL="0">
              <a:lnSpc>
                <a:spcPts val="1323"/>
              </a:lnSpc>
              <a:buNone/>
            </a:pPr>
            <a:r>
              <a:rPr lang="en-US" sz="800" dirty="0">
                <a:solidFill>
                  <a:srgbClr val="DB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|1&gt;</a:t>
            </a:r>
            <a:pPr algn="l" indent="0" marL="0">
              <a:lnSpc>
                <a:spcPts val="132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Phase-flip (Z) turns </a:t>
            </a:r>
            <a:pPr algn="l" indent="0" marL="0">
              <a:lnSpc>
                <a:spcPts val="1323"/>
              </a:lnSpc>
              <a:buNone/>
            </a:pPr>
            <a:r>
              <a:rPr lang="en-US" sz="800" dirty="0">
                <a:solidFill>
                  <a:srgbClr val="DB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|+&gt;</a:t>
            </a:r>
            <a:pPr algn="l" indent="0" marL="0">
              <a:lnSpc>
                <a:spcPts val="132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into </a:t>
            </a:r>
            <a:pPr algn="l" indent="0" marL="0">
              <a:lnSpc>
                <a:spcPts val="1323"/>
              </a:lnSpc>
              <a:buNone/>
            </a:pPr>
            <a:r>
              <a:rPr lang="en-US" sz="800" dirty="0">
                <a:solidFill>
                  <a:srgbClr val="DB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|-&gt;</a:t>
            </a:r>
            <a:pPr algn="l" indent="0" marL="0">
              <a:lnSpc>
                <a:spcPts val="132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Depolarizing applies a random Pauli </a:t>
            </a:r>
            <a:pPr algn="l" indent="0" marL="0">
              <a:lnSpc>
                <a:spcPts val="1323"/>
              </a:lnSpc>
              <a:buNone/>
            </a:pPr>
            <a:r>
              <a:rPr lang="en-US" sz="800" dirty="0">
                <a:solidFill>
                  <a:srgbClr val="DB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X/Y/Z</a:t>
            </a:r>
            <a:pPr algn="l" indent="0" marL="0">
              <a:lnSpc>
                <a:spcPts val="132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with probability </a:t>
            </a:r>
            <a:pPr algn="l" indent="0" marL="0">
              <a:lnSpc>
                <a:spcPts val="1323"/>
              </a:lnSpc>
              <a:buNone/>
            </a:pPr>
            <a:r>
              <a:rPr lang="en-US" sz="800" dirty="0">
                <a:solidFill>
                  <a:srgbClr val="DBE4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p/3</a:t>
            </a:r>
            <a:pPr algn="l" indent="0" marL="0">
              <a:lnSpc>
                <a:spcPts val="132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each. Our reference program implements exactly these three channels on the ID gate.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21506" y="3207767"/>
            <a:ext cx="2319263" cy="226814"/>
          </a:xfrm>
          <a:prstGeom prst="rect">
            <a:avLst/>
          </a:prstGeom>
          <a:noFill/>
          <a:ln/>
        </p:spPr>
        <p:txBody>
          <a:bodyPr wrap="none" lIns="0" tIns="11430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59" kern="0" dirty="0">
                <a:solidFill>
                  <a:srgbClr val="C4B5F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X/Y/Z · p/3 · ID gate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3247951" y="1839181"/>
            <a:ext cx="2647987" cy="1759707"/>
          </a:xfrm>
          <a:prstGeom prst="roundRect">
            <a:avLst>
              <a:gd name="adj" fmla="val 7578"/>
            </a:avLst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3415829" y="2014203"/>
            <a:ext cx="250031" cy="250031"/>
          </a:xfrm>
          <a:prstGeom prst="ellipse">
            <a:avLst/>
          </a:prstGeom>
          <a:solidFill>
            <a:srgbClr val="22D3EE">
              <a:alpha val="12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3442439" y="2040813"/>
            <a:ext cx="196810" cy="196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7DD3F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❄</a:t>
            </a:r>
            <a:endParaRPr lang="en-US" sz="1336" dirty="0"/>
          </a:p>
        </p:txBody>
      </p:sp>
      <p:sp>
        <p:nvSpPr>
          <p:cNvPr id="27" name="Text 24"/>
          <p:cNvSpPr/>
          <p:nvPr/>
        </p:nvSpPr>
        <p:spPr>
          <a:xfrm>
            <a:off x="3755157" y="2042778"/>
            <a:ext cx="1976475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trick — redundancy</a:t>
            </a:r>
            <a:endParaRPr lang="en-US" sz="1013" dirty="0"/>
          </a:p>
        </p:txBody>
      </p:sp>
      <p:sp>
        <p:nvSpPr>
          <p:cNvPr id="28" name="Text 25"/>
          <p:cNvSpPr/>
          <p:nvPr/>
        </p:nvSpPr>
        <p:spPr>
          <a:xfrm>
            <a:off x="3412257" y="2367818"/>
            <a:ext cx="2319375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3-qubit repetition family spreads ONE logical qubit across three physical qubits </a:t>
            </a:r>
            <a:pPr algn="l" indent="0" marL="0">
              <a:lnSpc>
                <a:spcPts val="1323"/>
              </a:lnSpc>
              <a:buNone/>
            </a:pPr>
            <a:r>
              <a:rPr lang="en-US" sz="800" dirty="0">
                <a:solidFill>
                  <a:srgbClr val="DBE4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(alpha|000&gt; + beta|111&gt;)</a:t>
            </a:r>
            <a:pPr algn="l" indent="0" marL="0">
              <a:lnSpc>
                <a:spcPts val="132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Parity checks locate an error WITHOUT reading — and destroying — the data.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3412257" y="3207767"/>
            <a:ext cx="2319375" cy="226814"/>
          </a:xfrm>
          <a:prstGeom prst="rect">
            <a:avLst/>
          </a:prstGeom>
          <a:noFill/>
          <a:ln/>
        </p:spPr>
        <p:txBody>
          <a:bodyPr wrap="none" lIns="0" tIns="11430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47" kern="0" dirty="0">
                <a:solidFill>
                  <a:srgbClr val="7DD3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alpha|000&gt; + beta|111&gt;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6038813" y="1839181"/>
            <a:ext cx="2647876" cy="1759707"/>
          </a:xfrm>
          <a:prstGeom prst="roundRect">
            <a:avLst>
              <a:gd name="adj" fmla="val 7578"/>
            </a:avLst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6206691" y="2014203"/>
            <a:ext cx="250031" cy="250031"/>
          </a:xfrm>
          <a:prstGeom prst="ellipse">
            <a:avLst/>
          </a:prstGeom>
          <a:solidFill>
            <a:srgbClr val="FBBF24">
              <a:alpha val="12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6233301" y="2040813"/>
            <a:ext cx="196810" cy="196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336" dirty="0"/>
          </a:p>
        </p:txBody>
      </p:sp>
      <p:sp>
        <p:nvSpPr>
          <p:cNvPr id="33" name="Text 30"/>
          <p:cNvSpPr/>
          <p:nvPr/>
        </p:nvSpPr>
        <p:spPr>
          <a:xfrm>
            <a:off x="6546019" y="2042778"/>
            <a:ext cx="1976363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proof it works</a:t>
            </a:r>
            <a:endParaRPr lang="en-US" sz="1013" dirty="0"/>
          </a:p>
        </p:txBody>
      </p:sp>
      <p:sp>
        <p:nvSpPr>
          <p:cNvPr id="34" name="Text 31"/>
          <p:cNvSpPr/>
          <p:nvPr/>
        </p:nvSpPr>
        <p:spPr>
          <a:xfrm>
            <a:off x="6203119" y="2367818"/>
            <a:ext cx="2319263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With a single X error on any qubit, syndrome </a:t>
            </a:r>
            <a:pPr algn="l" indent="0" marL="0">
              <a:lnSpc>
                <a:spcPts val="1323"/>
              </a:lnSpc>
              <a:buNone/>
            </a:pPr>
            <a:r>
              <a:rPr lang="en-US" sz="800" dirty="0">
                <a:solidFill>
                  <a:srgbClr val="DBE4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01/11/10</a:t>
            </a:r>
            <a:pPr algn="l" indent="0" marL="0">
              <a:lnSpc>
                <a:spcPts val="132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points at the culprit, an X correction undoes it, and the decoded qubit returns with </a:t>
            </a:r>
            <a:pPr algn="l" indent="0" marL="0">
              <a:lnSpc>
                <a:spcPts val="1323"/>
              </a:lnSpc>
              <a:buNone/>
            </a:pPr>
            <a:r>
              <a:rPr lang="en-US" sz="800" dirty="0">
                <a:solidFill>
                  <a:srgbClr val="DBE4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100%</a:t>
            </a:r>
            <a:pPr algn="l" indent="0" marL="0">
              <a:lnSpc>
                <a:spcPts val="132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fidelity — verified live in our prototype.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6203119" y="3207767"/>
            <a:ext cx="2319263" cy="226814"/>
          </a:xfrm>
          <a:prstGeom prst="rect">
            <a:avLst/>
          </a:prstGeom>
          <a:noFill/>
          <a:ln/>
        </p:spPr>
        <p:txBody>
          <a:bodyPr wrap="square" lIns="0" tIns="11430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59" kern="0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syndrome 01/11/10 · 100% fidelity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460772" y="4057650"/>
            <a:ext cx="8222456" cy="710803"/>
          </a:xfrm>
          <a:prstGeom prst="roundRect">
            <a:avLst>
              <a:gd name="adj" fmla="val 18760"/>
            </a:avLst>
          </a:prstGeom>
          <a:solidFill>
            <a:srgbClr val="22D3EE">
              <a:alpha val="6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621506" y="4204097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547" dirty="0"/>
          </a:p>
        </p:txBody>
      </p:sp>
      <p:sp>
        <p:nvSpPr>
          <p:cNvPr id="38" name="Text 35"/>
          <p:cNvSpPr/>
          <p:nvPr/>
        </p:nvSpPr>
        <p:spPr>
          <a:xfrm>
            <a:off x="892969" y="4175522"/>
            <a:ext cx="7739253" cy="135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06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Verdict logic of the Python reference program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892969" y="4338042"/>
            <a:ext cx="7629525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0"/>
              </a:lnSpc>
              <a:buNone/>
            </a:pPr>
            <a:r>
              <a:rPr lang="en-US" sz="8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QEC STATUS: MATCHED</a:t>
            </a:r>
            <a:pPr algn="l" indent="0" marL="0">
              <a:lnSpc>
                <a:spcPts val="123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— bit-flip noise tested with the 3-qubit Bit-Flip QEC · </a:t>
            </a:r>
            <a:pPr algn="l" indent="0" marL="0">
              <a:lnSpc>
                <a:spcPts val="1230"/>
              </a:lnSpc>
              <a:buNone/>
            </a:pPr>
            <a:r>
              <a:rPr lang="en-US" sz="800" b="1" dirty="0">
                <a:solidFill>
                  <a:srgbClr val="FB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MATCHED</a:t>
            </a:r>
            <a:pPr algn="l" indent="0" marL="0">
              <a:lnSpc>
                <a:spcPts val="123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— the code is not matched to this noise · </a:t>
            </a:r>
            <a:pPr algn="l" indent="0" marL="0">
              <a:lnSpc>
                <a:spcPts val="1230"/>
              </a:lnSpc>
              <a:buNone/>
            </a:pPr>
            <a:r>
              <a:rPr lang="en-US" sz="8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DEPOLARIZING</a:t>
            </a:r>
            <a:pPr algn="l" indent="0" marL="0">
              <a:lnSpc>
                <a:spcPts val="123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— tested with the selected code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62625" y="1800225"/>
            <a:ext cx="3059869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462625" y="2230189"/>
            <a:ext cx="3059869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62625" y="2528441"/>
            <a:ext cx="3059869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62625" y="2826693"/>
            <a:ext cx="3059869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371475"/>
            <a:ext cx="8636000" cy="1422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PHASE 1 · OBJECTIVES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41139"/>
            <a:ext cx="8636000" cy="41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025" b="1" spc="-20" kern="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Three objectives carried from the proposal</a:t>
            </a:r>
            <a:endParaRPr lang="en-US" sz="2025" dirty="0"/>
          </a:p>
        </p:txBody>
      </p:sp>
      <p:sp>
        <p:nvSpPr>
          <p:cNvPr id="9" name="Text 6"/>
          <p:cNvSpPr/>
          <p:nvPr/>
        </p:nvSpPr>
        <p:spPr>
          <a:xfrm>
            <a:off x="460772" y="1087636"/>
            <a:ext cx="4662525" cy="1146014"/>
          </a:xfrm>
          <a:prstGeom prst="roundRect">
            <a:avLst>
              <a:gd name="adj" fmla="val 11636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10791" y="1223367"/>
            <a:ext cx="235744" cy="235744"/>
          </a:xfrm>
          <a:prstGeom prst="ellipse">
            <a:avLst/>
          </a:prstGeom>
          <a:solidFill>
            <a:srgbClr val="8B5CF6">
              <a:alpha val="16000"/>
            </a:srgbClr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07219" y="1219795"/>
            <a:ext cx="285750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C4B5F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44" dirty="0"/>
          </a:p>
        </p:txBody>
      </p:sp>
      <p:sp>
        <p:nvSpPr>
          <p:cNvPr id="12" name="Text 9"/>
          <p:cNvSpPr/>
          <p:nvPr/>
        </p:nvSpPr>
        <p:spPr>
          <a:xfrm>
            <a:off x="935831" y="1247477"/>
            <a:ext cx="4041018" cy="202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77"/>
              </a:lnSpc>
              <a:buNone/>
            </a:pPr>
            <a:r>
              <a:rPr lang="en-US" sz="984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Multi-model noise simulation</a:t>
            </a:r>
            <a:endParaRPr lang="en-US" sz="984" dirty="0"/>
          </a:p>
        </p:txBody>
      </p:sp>
      <p:sp>
        <p:nvSpPr>
          <p:cNvPr id="13" name="Text 10"/>
          <p:cNvSpPr/>
          <p:nvPr/>
        </p:nvSpPr>
        <p:spPr>
          <a:xfrm>
            <a:off x="607219" y="1534120"/>
            <a:ext cx="4369631" cy="540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Implement the three canonical channels — bit-flip (X), phase-flip (Z) and depolarizing — with a configurable probability </a:t>
            </a:r>
            <a:pPr algn="l" indent="0" marL="0">
              <a:lnSpc>
                <a:spcPts val="1185"/>
              </a:lnSpc>
              <a:buNone/>
            </a:pPr>
            <a:r>
              <a:rPr lang="en-US" sz="800" dirty="0">
                <a:solidFill>
                  <a:srgbClr val="DB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algn="l" indent="0" marL="0">
              <a:lnSpc>
                <a:spcPts val="1185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applied to every qubit of the encoded block exactly like </a:t>
            </a:r>
            <a:pPr algn="l" indent="0" marL="0">
              <a:lnSpc>
                <a:spcPts val="1185"/>
              </a:lnSpc>
              <a:buNone/>
            </a:pPr>
            <a:r>
              <a:rPr lang="en-US" sz="800" dirty="0">
                <a:solidFill>
                  <a:srgbClr val="DB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build_noise_model()</a:t>
            </a:r>
            <a:pPr algn="l" indent="0" marL="0">
              <a:lnSpc>
                <a:spcPts val="1185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in our Python program.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60772" y="2355093"/>
            <a:ext cx="4662525" cy="1146014"/>
          </a:xfrm>
          <a:prstGeom prst="roundRect">
            <a:avLst>
              <a:gd name="adj" fmla="val 11636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610791" y="2490825"/>
            <a:ext cx="235744" cy="235744"/>
          </a:xfrm>
          <a:prstGeom prst="ellipse">
            <a:avLst/>
          </a:prstGeom>
          <a:solidFill>
            <a:srgbClr val="8B5CF6">
              <a:alpha val="16000"/>
            </a:srgbClr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07219" y="2487253"/>
            <a:ext cx="285750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C4B5F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44" dirty="0"/>
          </a:p>
        </p:txBody>
      </p:sp>
      <p:sp>
        <p:nvSpPr>
          <p:cNvPr id="17" name="Text 14"/>
          <p:cNvSpPr/>
          <p:nvPr/>
        </p:nvSpPr>
        <p:spPr>
          <a:xfrm>
            <a:off x="935831" y="2514935"/>
            <a:ext cx="4041018" cy="202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77"/>
              </a:lnSpc>
              <a:buNone/>
            </a:pPr>
            <a:r>
              <a:rPr lang="en-US" sz="984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Before / after comparison</a:t>
            </a:r>
            <a:endParaRPr lang="en-US" sz="984" dirty="0"/>
          </a:p>
        </p:txBody>
      </p:sp>
      <p:sp>
        <p:nvSpPr>
          <p:cNvPr id="18" name="Text 15"/>
          <p:cNvSpPr/>
          <p:nvPr/>
        </p:nvSpPr>
        <p:spPr>
          <a:xfrm>
            <a:off x="607219" y="2801578"/>
            <a:ext cx="4369631" cy="532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Evaluate the SAME noise on a bare qubit and on the encoded logical qubit: fidelity, error rate, improvement factor, detection statistics, plus probability sweeps that expose each code’s pseudo-threshold.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60772" y="3622551"/>
            <a:ext cx="4662525" cy="1146014"/>
          </a:xfrm>
          <a:prstGeom prst="roundRect">
            <a:avLst>
              <a:gd name="adj" fmla="val 11636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610791" y="3758282"/>
            <a:ext cx="235744" cy="235744"/>
          </a:xfrm>
          <a:prstGeom prst="ellipse">
            <a:avLst/>
          </a:prstGeom>
          <a:solidFill>
            <a:srgbClr val="8B5CF6">
              <a:alpha val="16000"/>
            </a:srgbClr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607219" y="3754710"/>
            <a:ext cx="285750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C4B5F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44" dirty="0"/>
          </a:p>
        </p:txBody>
      </p:sp>
      <p:sp>
        <p:nvSpPr>
          <p:cNvPr id="22" name="Text 19"/>
          <p:cNvSpPr/>
          <p:nvPr/>
        </p:nvSpPr>
        <p:spPr>
          <a:xfrm>
            <a:off x="935831" y="3782392"/>
            <a:ext cx="4041018" cy="202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77"/>
              </a:lnSpc>
              <a:buNone/>
            </a:pPr>
            <a:r>
              <a:rPr lang="en-US" sz="984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Configurable QEC experimentation</a:t>
            </a:r>
            <a:endParaRPr lang="en-US" sz="984" dirty="0"/>
          </a:p>
        </p:txBody>
      </p:sp>
      <p:sp>
        <p:nvSpPr>
          <p:cNvPr id="23" name="Text 20"/>
          <p:cNvSpPr/>
          <p:nvPr/>
        </p:nvSpPr>
        <p:spPr>
          <a:xfrm>
            <a:off x="607219" y="4069035"/>
            <a:ext cx="4369631" cy="371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Both QEC codes (</a:t>
            </a:r>
            <a:pPr algn="l" indent="0" marL="0">
              <a:lnSpc>
                <a:spcPts val="1185"/>
              </a:lnSpc>
              <a:buNone/>
            </a:pPr>
            <a:r>
              <a:rPr lang="en-US" sz="800" dirty="0">
                <a:solidFill>
                  <a:srgbClr val="DBE4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[[3,1,3]]</a:t>
            </a:r>
            <a:pPr algn="l" indent="0" marL="0">
              <a:lnSpc>
                <a:spcPts val="1185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bit-flip and phase-flip) combinable with all three noise models, any input state </a:t>
            </a:r>
            <a:pPr algn="l" indent="0" marL="0">
              <a:lnSpc>
                <a:spcPts val="1185"/>
              </a:lnSpc>
              <a:buNone/>
            </a:pPr>
            <a:r>
              <a:rPr lang="en-US" sz="800" dirty="0">
                <a:solidFill>
                  <a:srgbClr val="DBE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|psi&gt;</a:t>
            </a:r>
            <a:pPr algn="l" indent="0" marL="0">
              <a:lnSpc>
                <a:spcPts val="1185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manual error injection and a reproducible RNG seed.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301890" y="1087636"/>
            <a:ext cx="3381338" cy="3680817"/>
          </a:xfrm>
          <a:prstGeom prst="roundRect">
            <a:avLst>
              <a:gd name="adj" fmla="val 3944"/>
            </a:avLst>
          </a:prstGeom>
          <a:solidFill>
            <a:srgbClr val="8B5CF6">
              <a:alpha val="7000"/>
            </a:srgbClr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462625" y="1251942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C4B5F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1336" dirty="0"/>
          </a:p>
        </p:txBody>
      </p:sp>
      <p:sp>
        <p:nvSpPr>
          <p:cNvPr id="26" name="Text 23"/>
          <p:cNvSpPr/>
          <p:nvPr/>
        </p:nvSpPr>
        <p:spPr>
          <a:xfrm>
            <a:off x="5669793" y="1234083"/>
            <a:ext cx="285270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Scope — exactly </a:t>
            </a:r>
            <a:pPr algn="l" indent="0" marL="0">
              <a:lnSpc>
                <a:spcPts val="1350"/>
              </a:lnSpc>
              <a:buNone/>
            </a:pPr>
            <a:r>
              <a:rPr lang="en-US" sz="8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all_with_noise_prob.py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462625" y="1584127"/>
            <a:ext cx="1002807" cy="133945"/>
          </a:xfrm>
          <a:prstGeom prst="rect">
            <a:avLst/>
          </a:prstGeom>
          <a:noFill/>
          <a:ln/>
        </p:spPr>
        <p:txBody>
          <a:bodyPr wrap="none" lIns="0" tIns="21431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35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QEC codes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6319875" y="1584127"/>
            <a:ext cx="2229707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675" b="1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pPr algn="l" indent="0" marL="0">
              <a:lnSpc>
                <a:spcPts val="1046"/>
              </a:lnSpc>
              <a:buNone/>
            </a:pPr>
            <a:r>
              <a:rPr lang="en-US" sz="67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— 3-qubit Bit-Flip, 3-qubit Phase-Flip</a:t>
            </a:r>
            <a:endParaRPr lang="en-US" sz="675" dirty="0"/>
          </a:p>
        </p:txBody>
      </p:sp>
      <p:sp>
        <p:nvSpPr>
          <p:cNvPr id="29" name="Text 26"/>
          <p:cNvSpPr/>
          <p:nvPr/>
        </p:nvSpPr>
        <p:spPr>
          <a:xfrm>
            <a:off x="5462625" y="1882378"/>
            <a:ext cx="921026" cy="265658"/>
          </a:xfrm>
          <a:prstGeom prst="rect">
            <a:avLst/>
          </a:prstGeom>
          <a:noFill/>
          <a:ln/>
        </p:spPr>
        <p:txBody>
          <a:bodyPr wrap="none" lIns="0" tIns="21431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35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Noise models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6319875" y="1882378"/>
            <a:ext cx="2202619" cy="265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b="1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— Bit-Flip (X), Phase-Flip (Z), Depolarizing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462625" y="2312343"/>
            <a:ext cx="921026" cy="133945"/>
          </a:xfrm>
          <a:prstGeom prst="rect">
            <a:avLst/>
          </a:prstGeom>
          <a:noFill/>
          <a:ln/>
        </p:spPr>
        <p:txBody>
          <a:bodyPr wrap="none" lIns="0" tIns="21431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35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Noise point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6319875" y="2312343"/>
            <a:ext cx="2202619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gate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462625" y="2610594"/>
            <a:ext cx="1211580" cy="133945"/>
          </a:xfrm>
          <a:prstGeom prst="rect">
            <a:avLst/>
          </a:prstGeom>
          <a:noFill/>
          <a:ln/>
        </p:spPr>
        <p:txBody>
          <a:bodyPr wrap="none" lIns="0" tIns="21431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35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Shots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6319875" y="2610594"/>
            <a:ext cx="2202619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1,000 (Python) / up to 25,000 (browser)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5462625" y="2908846"/>
            <a:ext cx="1002807" cy="388620"/>
          </a:xfrm>
          <a:prstGeom prst="rect">
            <a:avLst/>
          </a:prstGeom>
          <a:noFill/>
          <a:ln/>
        </p:spPr>
        <p:txBody>
          <a:bodyPr wrap="none" lIns="0" tIns="21431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35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6319875" y="2908846"/>
            <a:ext cx="2202619" cy="34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bit == input bit (counts) / fidelity (browser)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466197" y="4188470"/>
            <a:ext cx="3052725" cy="429964"/>
          </a:xfrm>
          <a:prstGeom prst="roundRect">
            <a:avLst>
              <a:gd name="adj" fmla="val 22153"/>
            </a:avLst>
          </a:prstGeom>
          <a:solidFill>
            <a:srgbClr val="FBBF24">
              <a:alpha val="6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5569781" y="4284911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ⓘ</a:t>
            </a:r>
            <a:endParaRPr lang="en-US" sz="1125" dirty="0"/>
          </a:p>
        </p:txBody>
      </p:sp>
      <p:sp>
        <p:nvSpPr>
          <p:cNvPr id="39" name="Text 36"/>
          <p:cNvSpPr/>
          <p:nvPr/>
        </p:nvSpPr>
        <p:spPr>
          <a:xfrm>
            <a:off x="5755518" y="4270623"/>
            <a:ext cx="2659819" cy="265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Nothing outside this scope appears in the prototype — every lab is limited to these options by design.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71475"/>
            <a:ext cx="4795142" cy="142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PHASE 1 · LITERATURE SURVEY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57200" y="541139"/>
            <a:ext cx="4501478" cy="41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025" b="1" spc="-20" kern="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Ten studies that frame this project</a:t>
            </a:r>
            <a:endParaRPr lang="en-US" sz="2025" dirty="0"/>
          </a:p>
        </p:txBody>
      </p:sp>
      <p:sp>
        <p:nvSpPr>
          <p:cNvPr id="5" name="Text 2"/>
          <p:cNvSpPr/>
          <p:nvPr/>
        </p:nvSpPr>
        <p:spPr>
          <a:xfrm>
            <a:off x="7439457" y="703338"/>
            <a:ext cx="1270203" cy="206026"/>
          </a:xfrm>
          <a:prstGeom prst="roundRect">
            <a:avLst>
              <a:gd name="adj" fmla="val 4618580"/>
            </a:avLst>
          </a:prstGeom>
          <a:solidFill>
            <a:srgbClr val="22D3EE">
              <a:alpha val="8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462317" y="714375"/>
            <a:ext cx="1224483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PAPERS · 2018 – 2026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60772" y="1059061"/>
            <a:ext cx="8222456" cy="3475434"/>
          </a:xfrm>
          <a:prstGeom prst="roundRect">
            <a:avLst>
              <a:gd name="adj" fmla="val 3837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2931" y="1091208"/>
          <a:ext cx="7958138" cy="914400"/>
        </p:xfrm>
        <a:graphic>
          <a:graphicData uri="http://schemas.openxmlformats.org/drawingml/2006/table">
            <a:tbl>
              <a:tblPr/>
              <a:tblGrid>
                <a:gridCol w="318008"/>
                <a:gridCol w="2663503"/>
                <a:gridCol w="1431094"/>
                <a:gridCol w="516806"/>
                <a:gridCol w="3021583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94A3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5725" marR="71438" marT="71438" marB="64294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94A3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Title (short)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5725" marR="71438" marT="71438" marB="64294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94A3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Authors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5725" marR="71438" marT="71438" marB="64294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94A3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Year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5725" marR="71438" marT="71438" marB="64294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94A3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Focus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5725" marR="71438" marT="71438" marB="64294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An Efficient Simulation of Quantum Error Correction Codes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R. Padma Priya, A. Baradeswaran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7DD3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2018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QCAD-based simulation of QEC with bit-flip and phase-flip errors.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Testing Quantum Fault Tolerance on Small Systems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D. Willsch et al.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7DD3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2018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Fault-tolerance tests on simulators and an IBM processor.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Correcting Coherent Errors with Surface Codes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S. Bravyi et al.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7DD3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2018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Surface-code QEC under coherent errors.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Logical Performance of 9-Qubit Compass Codes in Ion Traps with Crosstalk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D. M. Debroy et al.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7DD3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2020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QEC under dephasing, over-rotation and crosstalk.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Simulating QEC beyond Pauli Stochastic Errors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J. Hines et al.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7DD3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2026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Coherent and non-Pauli errors via detector error models.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Testing a Quantum Error-Correcting Code on Various Platforms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Q. Guo et al.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7DD3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2020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A two-qubit code for detected amplitude damping.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Simulation and Performance Analysis of QEC with a Rotated Surface Code under a Realistic Noise Model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M. Katsuda et al.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7DD3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2024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Distance-5 surface code under stochastic and coherent noise.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Demonstrating Multi-Round Subsystem QEC Using Matching and Maximum-Likelihood Decoders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N. Sundaresan et al.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7DD3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2023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Multi-round QEC and syndrome decoding.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Simulation of Thermal-Relaxation Noise for Quantum Error Correction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S. R. Garner et al.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7DD3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2026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Accurate thermal-relaxation simulation for QEC.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71438" marT="57150" marB="50006" anchor="t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Comparative Performance Analysis of QEC Codes under Simulated Depolarizing Noise using Qiskit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G. Kaur et al.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7DD3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2026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3-qubit bit-flip, phase-flip and Shor codes under depolarizing noise — our reference-program lineage.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4644330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195" dirty="0"/>
          </a:p>
        </p:txBody>
      </p:sp>
      <p:sp>
        <p:nvSpPr>
          <p:cNvPr id="10" name="Text 6"/>
          <p:cNvSpPr/>
          <p:nvPr/>
        </p:nvSpPr>
        <p:spPr>
          <a:xfrm>
            <a:off x="650081" y="4638080"/>
            <a:ext cx="803671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prototype unifies the survey’s common denominator: 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simulate the canonical channels, compare with-vs-without QEC, report reproducible metrics.</a:t>
            </a:r>
            <a:endParaRPr lang="en-US" sz="703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175647" y="1361331"/>
            <a:ext cx="0" cy="239316"/>
          </a:xfrm>
          <a:prstGeom prst="line">
            <a:avLst/>
          </a:prstGeom>
          <a:noFill/>
          <a:ln w="21431">
            <a:solidFill>
              <a:srgbClr val="FB7185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175647" y="1657796"/>
            <a:ext cx="0" cy="239316"/>
          </a:xfrm>
          <a:prstGeom prst="line">
            <a:avLst/>
          </a:prstGeom>
          <a:noFill/>
          <a:ln w="21431">
            <a:solidFill>
              <a:srgbClr val="FB718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175647" y="1954262"/>
            <a:ext cx="0" cy="239316"/>
          </a:xfrm>
          <a:prstGeom prst="line">
            <a:avLst/>
          </a:prstGeom>
          <a:noFill/>
          <a:ln w="21431">
            <a:solidFill>
              <a:srgbClr val="FB718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175647" y="2250728"/>
            <a:ext cx="0" cy="239316"/>
          </a:xfrm>
          <a:prstGeom prst="line">
            <a:avLst/>
          </a:prstGeom>
          <a:noFill/>
          <a:ln w="21431">
            <a:solidFill>
              <a:srgbClr val="34D39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164931" y="2593628"/>
            <a:ext cx="3357563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71475"/>
            <a:ext cx="8636000" cy="135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PHASE 1 · METHODOLOGY &amp; ARCHITECTURE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" y="533995"/>
            <a:ext cx="8636000" cy="311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68"/>
              </a:lnSpc>
              <a:buNone/>
            </a:pPr>
            <a:r>
              <a:rPr lang="en-US" sz="2025" b="1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worked example that anchors the design</a:t>
            </a:r>
            <a:endParaRPr lang="en-US" sz="2025" dirty="0"/>
          </a:p>
        </p:txBody>
      </p:sp>
      <p:sp>
        <p:nvSpPr>
          <p:cNvPr id="10" name="Text 7"/>
          <p:cNvSpPr/>
          <p:nvPr/>
        </p:nvSpPr>
        <p:spPr>
          <a:xfrm>
            <a:off x="460772" y="954137"/>
            <a:ext cx="4364831" cy="3428554"/>
          </a:xfrm>
          <a:prstGeom prst="roundRect">
            <a:avLst>
              <a:gd name="adj" fmla="val 3889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21506" y="111308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8B5C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lang="en-US" sz="1266" dirty="0"/>
          </a:p>
        </p:txBody>
      </p:sp>
      <p:sp>
        <p:nvSpPr>
          <p:cNvPr id="12" name="Text 9"/>
          <p:cNvSpPr/>
          <p:nvPr/>
        </p:nvSpPr>
        <p:spPr>
          <a:xfrm>
            <a:off x="814388" y="1086296"/>
            <a:ext cx="3850481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Reference scenario — 3-qubit Bit-Flip QEC</a:t>
            </a:r>
            <a:endParaRPr lang="en-US" sz="956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88" y="1454200"/>
            <a:ext cx="7144" cy="2682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25078" y="1837953"/>
            <a:ext cx="164306" cy="164306"/>
          </a:xfrm>
          <a:prstGeom prst="roundRect">
            <a:avLst>
              <a:gd name="adj" fmla="val 5791313"/>
            </a:avLst>
          </a:prstGeom>
          <a:solidFill>
            <a:srgbClr val="0D0B1C"/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621506" y="1834381"/>
            <a:ext cx="2143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b="1" dirty="0">
                <a:solidFill>
                  <a:srgbClr val="C4B5F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878681" y="1853133"/>
            <a:ext cx="37861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input_bit 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prepare |psi&gt; (X gate if 1)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625078" y="2087984"/>
            <a:ext cx="164306" cy="164306"/>
          </a:xfrm>
          <a:prstGeom prst="roundRect">
            <a:avLst>
              <a:gd name="adj" fmla="val 5791313"/>
            </a:avLst>
          </a:prstGeom>
          <a:solidFill>
            <a:srgbClr val="0D0B1C"/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621506" y="2084412"/>
            <a:ext cx="2143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b="1" dirty="0">
                <a:solidFill>
                  <a:srgbClr val="C4B5F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878681" y="2103165"/>
            <a:ext cx="37861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ENCODE: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CX(0,1), CX(0,2) 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alpha|000&gt; + beta|111&gt;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625078" y="2338015"/>
            <a:ext cx="164306" cy="164306"/>
          </a:xfrm>
          <a:prstGeom prst="roundRect">
            <a:avLst>
              <a:gd name="adj" fmla="val 5791313"/>
            </a:avLst>
          </a:prstGeom>
          <a:solidFill>
            <a:srgbClr val="0D0B1C"/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621506" y="2334444"/>
            <a:ext cx="2143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b="1" dirty="0">
                <a:solidFill>
                  <a:srgbClr val="C4B5F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878681" y="2353196"/>
            <a:ext cx="37861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b="1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NOISE: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id(error_qubit) + NoiseModel on ID gate (X / Z / depol, prob p)</a:t>
            </a:r>
            <a:endParaRPr lang="en-US" sz="703" dirty="0"/>
          </a:p>
        </p:txBody>
      </p:sp>
      <p:sp>
        <p:nvSpPr>
          <p:cNvPr id="23" name="Text 19"/>
          <p:cNvSpPr/>
          <p:nvPr/>
        </p:nvSpPr>
        <p:spPr>
          <a:xfrm>
            <a:off x="625078" y="2588047"/>
            <a:ext cx="164306" cy="164306"/>
          </a:xfrm>
          <a:prstGeom prst="roundRect">
            <a:avLst>
              <a:gd name="adj" fmla="val 5791313"/>
            </a:avLst>
          </a:prstGeom>
          <a:solidFill>
            <a:srgbClr val="0D0B1C"/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621506" y="2584475"/>
            <a:ext cx="2143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b="1" dirty="0">
                <a:solidFill>
                  <a:srgbClr val="C4B5F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878681" y="2603227"/>
            <a:ext cx="37861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SYNDROME: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q3 checks q0,q1 ; q4 checks q1,q2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625078" y="2838078"/>
            <a:ext cx="164306" cy="164306"/>
          </a:xfrm>
          <a:prstGeom prst="roundRect">
            <a:avLst>
              <a:gd name="adj" fmla="val 5791313"/>
            </a:avLst>
          </a:prstGeom>
          <a:solidFill>
            <a:srgbClr val="0D0B1C"/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621506" y="2834506"/>
            <a:ext cx="2143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b="1" dirty="0">
                <a:solidFill>
                  <a:srgbClr val="C4B5F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878681" y="2853258"/>
            <a:ext cx="37861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syndrome 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c0,c1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625078" y="3088109"/>
            <a:ext cx="164306" cy="164306"/>
          </a:xfrm>
          <a:prstGeom prst="roundRect">
            <a:avLst>
              <a:gd name="adj" fmla="val 5791313"/>
            </a:avLst>
          </a:prstGeom>
          <a:solidFill>
            <a:srgbClr val="0D0B1C"/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621506" y="3084537"/>
            <a:ext cx="2143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b="1" dirty="0">
                <a:solidFill>
                  <a:srgbClr val="C4B5F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878681" y="3103290"/>
            <a:ext cx="37861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CORRECT (if_test):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X(q0) · 11 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X(q1) · 10 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X(q2)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625078" y="3338140"/>
            <a:ext cx="164306" cy="164306"/>
          </a:xfrm>
          <a:prstGeom prst="roundRect">
            <a:avLst>
              <a:gd name="adj" fmla="val 5791313"/>
            </a:avLst>
          </a:prstGeom>
          <a:solidFill>
            <a:srgbClr val="0D0B1C"/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9"/>
          <p:cNvSpPr/>
          <p:nvPr/>
        </p:nvSpPr>
        <p:spPr>
          <a:xfrm>
            <a:off x="621506" y="3334569"/>
            <a:ext cx="2143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b="1" dirty="0">
                <a:solidFill>
                  <a:srgbClr val="C4B5F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878681" y="3353321"/>
            <a:ext cx="37861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DECODE: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CX(0,1), CX(0,2)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625078" y="3588172"/>
            <a:ext cx="164306" cy="164306"/>
          </a:xfrm>
          <a:prstGeom prst="roundRect">
            <a:avLst>
              <a:gd name="adj" fmla="val 5791313"/>
            </a:avLst>
          </a:prstGeom>
          <a:solidFill>
            <a:srgbClr val="0D0B1C"/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2"/>
          <p:cNvSpPr/>
          <p:nvPr/>
        </p:nvSpPr>
        <p:spPr>
          <a:xfrm>
            <a:off x="621506" y="3584600"/>
            <a:ext cx="2143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b="1" dirty="0">
                <a:solidFill>
                  <a:srgbClr val="C4B5F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878681" y="3603352"/>
            <a:ext cx="37861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c2 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compare with input_bit</a:t>
            </a:r>
            <a:endParaRPr lang="en-US" sz="800" dirty="0"/>
          </a:p>
        </p:txBody>
      </p:sp>
      <p:sp>
        <p:nvSpPr>
          <p:cNvPr id="38" name="Text 34"/>
          <p:cNvSpPr/>
          <p:nvPr/>
        </p:nvSpPr>
        <p:spPr>
          <a:xfrm>
            <a:off x="5004197" y="954137"/>
            <a:ext cx="3679031" cy="3428554"/>
          </a:xfrm>
          <a:prstGeom prst="roundRect">
            <a:avLst>
              <a:gd name="adj" fmla="val 3889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5"/>
          <p:cNvSpPr/>
          <p:nvPr/>
        </p:nvSpPr>
        <p:spPr>
          <a:xfrm>
            <a:off x="5164931" y="111308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▶</a:t>
            </a:r>
            <a:endParaRPr lang="en-US" sz="1266" dirty="0"/>
          </a:p>
        </p:txBody>
      </p:sp>
      <p:sp>
        <p:nvSpPr>
          <p:cNvPr id="40" name="Text 36"/>
          <p:cNvSpPr/>
          <p:nvPr/>
        </p:nvSpPr>
        <p:spPr>
          <a:xfrm>
            <a:off x="5357813" y="1086296"/>
            <a:ext cx="3164681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E2E8F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Worked run — X on q1, p = 10%</a:t>
            </a:r>
            <a:endParaRPr lang="en-US" sz="956" dirty="0"/>
          </a:p>
        </p:txBody>
      </p:sp>
      <p:sp>
        <p:nvSpPr>
          <p:cNvPr id="41" name="Text 37"/>
          <p:cNvSpPr/>
          <p:nvPr/>
        </p:nvSpPr>
        <p:spPr>
          <a:xfrm>
            <a:off x="5164931" y="1361331"/>
            <a:ext cx="3357563" cy="239316"/>
          </a:xfrm>
          <a:prstGeom prst="roundRect">
            <a:avLst>
              <a:gd name="adj" fmla="val 31841"/>
            </a:avLst>
          </a:prstGeom>
          <a:solidFill>
            <a:srgbClr val="FB7185">
              <a:alpha val="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8"/>
          <p:cNvSpPr/>
          <p:nvPr/>
        </p:nvSpPr>
        <p:spPr>
          <a:xfrm>
            <a:off x="5272088" y="1427411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FB718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055" dirty="0"/>
          </a:p>
        </p:txBody>
      </p:sp>
      <p:sp>
        <p:nvSpPr>
          <p:cNvPr id="43" name="Text 39"/>
          <p:cNvSpPr/>
          <p:nvPr/>
        </p:nvSpPr>
        <p:spPr>
          <a:xfrm>
            <a:off x="5450681" y="1411337"/>
            <a:ext cx="298608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|000&gt; 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B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noise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|010&gt;</a:t>
            </a:r>
            <a:endParaRPr lang="en-US" sz="800" dirty="0"/>
          </a:p>
        </p:txBody>
      </p:sp>
      <p:sp>
        <p:nvSpPr>
          <p:cNvPr id="44" name="Text 40"/>
          <p:cNvSpPr/>
          <p:nvPr/>
        </p:nvSpPr>
        <p:spPr>
          <a:xfrm>
            <a:off x="5164931" y="1657796"/>
            <a:ext cx="3357563" cy="239316"/>
          </a:xfrm>
          <a:prstGeom prst="roundRect">
            <a:avLst>
              <a:gd name="adj" fmla="val 31841"/>
            </a:avLst>
          </a:prstGeom>
          <a:solidFill>
            <a:srgbClr val="FB7185">
              <a:alpha val="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1"/>
          <p:cNvSpPr/>
          <p:nvPr/>
        </p:nvSpPr>
        <p:spPr>
          <a:xfrm>
            <a:off x="5272088" y="1723876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FB718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⌕</a:t>
            </a:r>
            <a:endParaRPr lang="en-US" sz="1055" dirty="0"/>
          </a:p>
        </p:txBody>
      </p:sp>
      <p:sp>
        <p:nvSpPr>
          <p:cNvPr id="46" name="Text 42"/>
          <p:cNvSpPr/>
          <p:nvPr/>
        </p:nvSpPr>
        <p:spPr>
          <a:xfrm>
            <a:off x="5450681" y="1707803"/>
            <a:ext cx="298608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syndrome (1,1)</a:t>
            </a:r>
            <a:endParaRPr lang="en-US" sz="800" dirty="0"/>
          </a:p>
        </p:txBody>
      </p:sp>
      <p:sp>
        <p:nvSpPr>
          <p:cNvPr id="47" name="Text 43"/>
          <p:cNvSpPr/>
          <p:nvPr/>
        </p:nvSpPr>
        <p:spPr>
          <a:xfrm>
            <a:off x="5164931" y="1954262"/>
            <a:ext cx="3357563" cy="239316"/>
          </a:xfrm>
          <a:prstGeom prst="roundRect">
            <a:avLst>
              <a:gd name="adj" fmla="val 31841"/>
            </a:avLst>
          </a:prstGeom>
          <a:solidFill>
            <a:srgbClr val="FB7185">
              <a:alpha val="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4"/>
          <p:cNvSpPr/>
          <p:nvPr/>
        </p:nvSpPr>
        <p:spPr>
          <a:xfrm>
            <a:off x="5272088" y="2020342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FB718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055" dirty="0"/>
          </a:p>
        </p:txBody>
      </p:sp>
      <p:sp>
        <p:nvSpPr>
          <p:cNvPr id="49" name="Text 45"/>
          <p:cNvSpPr/>
          <p:nvPr/>
        </p:nvSpPr>
        <p:spPr>
          <a:xfrm>
            <a:off x="5450681" y="2004268"/>
            <a:ext cx="298608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correction X(q1) 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|000&gt;</a:t>
            </a:r>
            <a:endParaRPr lang="en-US" sz="800" dirty="0"/>
          </a:p>
        </p:txBody>
      </p:sp>
      <p:sp>
        <p:nvSpPr>
          <p:cNvPr id="50" name="Text 46"/>
          <p:cNvSpPr/>
          <p:nvPr/>
        </p:nvSpPr>
        <p:spPr>
          <a:xfrm>
            <a:off x="5164931" y="2250728"/>
            <a:ext cx="3357563" cy="239316"/>
          </a:xfrm>
          <a:prstGeom prst="roundRect">
            <a:avLst>
              <a:gd name="adj" fmla="val 31841"/>
            </a:avLst>
          </a:prstGeom>
          <a:solidFill>
            <a:srgbClr val="34D399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7"/>
          <p:cNvSpPr/>
          <p:nvPr/>
        </p:nvSpPr>
        <p:spPr>
          <a:xfrm>
            <a:off x="5272088" y="2316807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055" dirty="0"/>
          </a:p>
        </p:txBody>
      </p:sp>
      <p:sp>
        <p:nvSpPr>
          <p:cNvPr id="52" name="Text 48"/>
          <p:cNvSpPr/>
          <p:nvPr/>
        </p:nvSpPr>
        <p:spPr>
          <a:xfrm>
            <a:off x="5450681" y="2300734"/>
            <a:ext cx="298608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decoded 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|0&gt; — </a:t>
            </a:r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FIDELITY 100%</a:t>
            </a:r>
            <a:endParaRPr lang="en-US" sz="800" dirty="0"/>
          </a:p>
        </p:txBody>
      </p:sp>
      <p:sp>
        <p:nvSpPr>
          <p:cNvPr id="53" name="Text 49"/>
          <p:cNvSpPr/>
          <p:nvPr/>
        </p:nvSpPr>
        <p:spPr>
          <a:xfrm>
            <a:off x="5718572" y="3047033"/>
            <a:ext cx="678656" cy="564356"/>
          </a:xfrm>
          <a:prstGeom prst="roundRect">
            <a:avLst>
              <a:gd name="adj" fmla="val 16878"/>
            </a:avLst>
          </a:prstGeom>
          <a:solidFill>
            <a:srgbClr val="FFFFFF">
              <a:alpha val="3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0"/>
          <p:cNvSpPr/>
          <p:nvPr/>
        </p:nvSpPr>
        <p:spPr>
          <a:xfrm>
            <a:off x="6003429" y="3157761"/>
            <a:ext cx="17430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q0</a:t>
            </a:r>
            <a:endParaRPr lang="en-US" sz="800" dirty="0"/>
          </a:p>
        </p:txBody>
      </p:sp>
      <p:sp>
        <p:nvSpPr>
          <p:cNvPr id="55" name="Text 51"/>
          <p:cNvSpPr/>
          <p:nvPr/>
        </p:nvSpPr>
        <p:spPr>
          <a:xfrm>
            <a:off x="6010573" y="3264917"/>
            <a:ext cx="151448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E2E8F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</a:t>
            </a:r>
            <a:endParaRPr lang="en-US" sz="1238" dirty="0"/>
          </a:p>
        </p:txBody>
      </p:sp>
      <p:sp>
        <p:nvSpPr>
          <p:cNvPr id="56" name="Text 52"/>
          <p:cNvSpPr/>
          <p:nvPr/>
        </p:nvSpPr>
        <p:spPr>
          <a:xfrm>
            <a:off x="6504384" y="3047033"/>
            <a:ext cx="678656" cy="564356"/>
          </a:xfrm>
          <a:prstGeom prst="roundRect">
            <a:avLst>
              <a:gd name="adj" fmla="val 16878"/>
            </a:avLst>
          </a:prstGeom>
          <a:solidFill>
            <a:srgbClr val="FB7185">
              <a:alpha val="8000"/>
            </a:srgbClr>
          </a:solidFill>
          <a:ln w="7144">
            <a:solidFill>
              <a:srgbClr val="FB718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3"/>
          <p:cNvSpPr/>
          <p:nvPr/>
        </p:nvSpPr>
        <p:spPr>
          <a:xfrm>
            <a:off x="6789241" y="3109540"/>
            <a:ext cx="17430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FB71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q1</a:t>
            </a:r>
            <a:endParaRPr lang="en-US" sz="800" dirty="0"/>
          </a:p>
        </p:txBody>
      </p:sp>
      <p:sp>
        <p:nvSpPr>
          <p:cNvPr id="58" name="Text 54"/>
          <p:cNvSpPr/>
          <p:nvPr/>
        </p:nvSpPr>
        <p:spPr>
          <a:xfrm>
            <a:off x="6796385" y="3216697"/>
            <a:ext cx="151448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FB71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1238" dirty="0"/>
          </a:p>
        </p:txBody>
      </p:sp>
      <p:sp>
        <p:nvSpPr>
          <p:cNvPr id="59" name="Text 55"/>
          <p:cNvSpPr/>
          <p:nvPr/>
        </p:nvSpPr>
        <p:spPr>
          <a:xfrm>
            <a:off x="6611698" y="3452440"/>
            <a:ext cx="596636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51" kern="0" dirty="0">
                <a:solidFill>
                  <a:srgbClr val="FB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corrupted</a:t>
            </a:r>
            <a:endParaRPr lang="en-US" sz="800" dirty="0"/>
          </a:p>
        </p:txBody>
      </p:sp>
      <p:sp>
        <p:nvSpPr>
          <p:cNvPr id="60" name="Text 56"/>
          <p:cNvSpPr/>
          <p:nvPr/>
        </p:nvSpPr>
        <p:spPr>
          <a:xfrm>
            <a:off x="7290197" y="3047033"/>
            <a:ext cx="678656" cy="564356"/>
          </a:xfrm>
          <a:prstGeom prst="roundRect">
            <a:avLst>
              <a:gd name="adj" fmla="val 16878"/>
            </a:avLst>
          </a:prstGeom>
          <a:solidFill>
            <a:srgbClr val="FFFFFF">
              <a:alpha val="3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7"/>
          <p:cNvSpPr/>
          <p:nvPr/>
        </p:nvSpPr>
        <p:spPr>
          <a:xfrm>
            <a:off x="7575054" y="3157761"/>
            <a:ext cx="17430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q2</a:t>
            </a:r>
            <a:endParaRPr lang="en-US" sz="800" dirty="0"/>
          </a:p>
        </p:txBody>
      </p:sp>
      <p:sp>
        <p:nvSpPr>
          <p:cNvPr id="62" name="Text 58"/>
          <p:cNvSpPr/>
          <p:nvPr/>
        </p:nvSpPr>
        <p:spPr>
          <a:xfrm>
            <a:off x="7582198" y="3264917"/>
            <a:ext cx="151448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E2E8F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</a:t>
            </a:r>
            <a:endParaRPr lang="en-US" sz="1238" dirty="0"/>
          </a:p>
        </p:txBody>
      </p:sp>
      <p:sp>
        <p:nvSpPr>
          <p:cNvPr id="63" name="Text 59"/>
          <p:cNvSpPr/>
          <p:nvPr/>
        </p:nvSpPr>
        <p:spPr>
          <a:xfrm>
            <a:off x="5164931" y="3686398"/>
            <a:ext cx="3357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exact Phase-1 example, now executable live in the prototype’s Overview tab</a:t>
            </a:r>
            <a:endParaRPr lang="en-US" sz="619" dirty="0"/>
          </a:p>
        </p:txBody>
      </p:sp>
      <p:sp>
        <p:nvSpPr>
          <p:cNvPr id="64" name="Text 60"/>
          <p:cNvSpPr/>
          <p:nvPr/>
        </p:nvSpPr>
        <p:spPr>
          <a:xfrm>
            <a:off x="460772" y="4489847"/>
            <a:ext cx="8222456" cy="278606"/>
          </a:xfrm>
          <a:prstGeom prst="roundRect">
            <a:avLst>
              <a:gd name="adj" fmla="val 47863"/>
            </a:avLst>
          </a:prstGeom>
          <a:solidFill>
            <a:srgbClr val="22D3EE">
              <a:alpha val="6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1"/>
          <p:cNvSpPr/>
          <p:nvPr/>
        </p:nvSpPr>
        <p:spPr>
          <a:xfrm>
            <a:off x="592931" y="4572000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66" name="Text 62"/>
          <p:cNvSpPr/>
          <p:nvPr/>
        </p:nvSpPr>
        <p:spPr>
          <a:xfrm>
            <a:off x="792956" y="4564856"/>
            <a:ext cx="7758113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AerSimulator.run(qc, shots=1000) 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counts 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interpretation 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performance analysis 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syndrome table 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circuit printout.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64799" y="-300037"/>
            <a:ext cx="2979201" cy="1774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38"/>
              </a:lnSpc>
              <a:buNone/>
            </a:pPr>
            <a:r>
              <a:rPr lang="en-US" sz="12938" b="1" spc="-647" kern="0" dirty="0">
                <a:solidFill>
                  <a:srgbClr val="8B5CF6">
                    <a:alpha val="7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2938" dirty="0"/>
          </a:p>
        </p:txBody>
      </p:sp>
      <p:sp>
        <p:nvSpPr>
          <p:cNvPr id="4" name="Text 1"/>
          <p:cNvSpPr/>
          <p:nvPr/>
        </p:nvSpPr>
        <p:spPr>
          <a:xfrm>
            <a:off x="457200" y="371475"/>
            <a:ext cx="8636000" cy="1493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PHASE 2 · THE PROTOTYPE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57200" y="548283"/>
            <a:ext cx="7936706" cy="861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3038" b="1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simulator, running live in the browser</a:t>
            </a:r>
            <a:endParaRPr lang="en-US" sz="3038" dirty="0"/>
          </a:p>
        </p:txBody>
      </p:sp>
      <p:sp>
        <p:nvSpPr>
          <p:cNvPr id="6" name="Text 3"/>
          <p:cNvSpPr/>
          <p:nvPr/>
        </p:nvSpPr>
        <p:spPr>
          <a:xfrm>
            <a:off x="457200" y="1437456"/>
            <a:ext cx="7358063" cy="347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Next.js client-side web application — every value computed by a </a:t>
            </a:r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from-scratch state-vector engine</a:t>
            </a:r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scoped to the two codes and three channels of the Python program.</a:t>
            </a:r>
            <a:endParaRPr lang="en-US" sz="844" dirty="0"/>
          </a:p>
        </p:txBody>
      </p:sp>
      <p:sp>
        <p:nvSpPr>
          <p:cNvPr id="7" name="Text 4"/>
          <p:cNvSpPr/>
          <p:nvPr/>
        </p:nvSpPr>
        <p:spPr>
          <a:xfrm>
            <a:off x="460772" y="1905372"/>
            <a:ext cx="4007644" cy="2421731"/>
          </a:xfrm>
          <a:prstGeom prst="roundRect">
            <a:avLst>
              <a:gd name="adj" fmla="val 3933"/>
            </a:avLst>
          </a:prstGeom>
          <a:noFill/>
          <a:ln w="7144">
            <a:solidFill>
              <a:srgbClr val="8B5CF6"/>
            </a:solidFill>
            <a:prstDash val="solid"/>
          </a:ln>
          <a:effectLst>
            <a:outerShdw sx="100000" sy="100000" kx="0" ky="0" algn="bl" rotWithShape="0" blurRad="419100" dist="171450" dir="5400000">
              <a:srgbClr val="000000">
                <a:alpha val="8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1" descr="/tmp/h2p-fit-1791960333636-5gmos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344" y="1908944"/>
            <a:ext cx="4000500" cy="21431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4356" y="4169941"/>
            <a:ext cx="42863" cy="42863"/>
          </a:xfrm>
          <a:prstGeom prst="roundRect">
            <a:avLst>
              <a:gd name="adj" fmla="val 22199741"/>
            </a:avLst>
          </a:prstGeom>
          <a:solidFill>
            <a:srgbClr val="22D3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464344" y="4052069"/>
            <a:ext cx="4000500" cy="271463"/>
          </a:xfrm>
          <a:prstGeom prst="rect">
            <a:avLst/>
          </a:prstGeom>
          <a:noFill/>
          <a:ln/>
        </p:spPr>
        <p:txBody>
          <a:bodyPr wrap="none" lIns="100013" tIns="0" rIns="100013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Overview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objectives, compact how-it-works walkthrough, quick navigation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4675584" y="1905372"/>
            <a:ext cx="4007644" cy="2421731"/>
          </a:xfrm>
          <a:prstGeom prst="roundRect">
            <a:avLst>
              <a:gd name="adj" fmla="val 3933"/>
            </a:avLst>
          </a:prstGeom>
          <a:noFill/>
          <a:ln w="7144">
            <a:solidFill>
              <a:srgbClr val="8B5CF6"/>
            </a:solidFill>
            <a:prstDash val="solid"/>
          </a:ln>
          <a:effectLst>
            <a:outerShdw sx="100000" sy="100000" kx="0" ky="0" algn="bl" rotWithShape="0" blurRad="419100" dist="171450" dir="5400000">
              <a:srgbClr val="000000">
                <a:alpha val="8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2" descr="/tmp/h2p-fit-1791960333637-udjz8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9156" y="1908944"/>
            <a:ext cx="4000500" cy="214312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779169" y="4169941"/>
            <a:ext cx="42863" cy="42863"/>
          </a:xfrm>
          <a:prstGeom prst="roundRect">
            <a:avLst>
              <a:gd name="adj" fmla="val 22199741"/>
            </a:avLst>
          </a:prstGeom>
          <a:solidFill>
            <a:srgbClr val="22D3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4679156" y="4052069"/>
            <a:ext cx="4000500" cy="271463"/>
          </a:xfrm>
          <a:prstGeom prst="rect">
            <a:avLst/>
          </a:prstGeom>
          <a:noFill/>
          <a:ln/>
        </p:spPr>
        <p:txBody>
          <a:bodyPr wrap="none" lIns="100013" tIns="0" rIns="100013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Simulator Lab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manual X on q1: syndrome (1,1), correction applied, F = 100% vs bare 0%</a:t>
            </a:r>
            <a:endParaRPr lang="en-US" sz="800" dirty="0"/>
          </a:p>
        </p:txBody>
      </p:sp>
      <p:sp>
        <p:nvSpPr>
          <p:cNvPr id="15" name="Text 10"/>
          <p:cNvSpPr/>
          <p:nvPr/>
        </p:nvSpPr>
        <p:spPr>
          <a:xfrm>
            <a:off x="457200" y="4577036"/>
            <a:ext cx="525847" cy="206026"/>
          </a:xfrm>
          <a:prstGeom prst="roundRect">
            <a:avLst>
              <a:gd name="adj" fmla="val 4618580"/>
            </a:avLst>
          </a:prstGeom>
          <a:solidFill>
            <a:srgbClr val="22D3EE">
              <a:alpha val="8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659442" y="4630936"/>
            <a:ext cx="392826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tabs</a:t>
            </a:r>
            <a:endParaRPr lang="en-US" sz="800" dirty="0"/>
          </a:p>
        </p:txBody>
      </p:sp>
      <p:sp>
        <p:nvSpPr>
          <p:cNvPr id="17" name="Text 12"/>
          <p:cNvSpPr/>
          <p:nvPr/>
        </p:nvSpPr>
        <p:spPr>
          <a:xfrm>
            <a:off x="550069" y="4633615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7DD3F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14" dirty="0"/>
          </a:p>
        </p:txBody>
      </p:sp>
      <p:sp>
        <p:nvSpPr>
          <p:cNvPr id="18" name="Text 13"/>
          <p:cNvSpPr/>
          <p:nvPr/>
        </p:nvSpPr>
        <p:spPr>
          <a:xfrm>
            <a:off x="1068772" y="4577036"/>
            <a:ext cx="942752" cy="206026"/>
          </a:xfrm>
          <a:prstGeom prst="roundRect">
            <a:avLst>
              <a:gd name="adj" fmla="val 4618580"/>
            </a:avLst>
          </a:prstGeom>
          <a:solidFill>
            <a:srgbClr val="8B5CF6">
              <a:alpha val="12000"/>
            </a:srgbClr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1297372" y="4630936"/>
            <a:ext cx="757014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600" dirty="0">
                <a:solidFill>
                  <a:srgbClr val="C4B5F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codes x 3 noises</a:t>
            </a:r>
            <a:endParaRPr lang="en-US" sz="600" dirty="0"/>
          </a:p>
        </p:txBody>
      </p:sp>
      <p:sp>
        <p:nvSpPr>
          <p:cNvPr id="20" name="Text 15"/>
          <p:cNvSpPr/>
          <p:nvPr/>
        </p:nvSpPr>
        <p:spPr>
          <a:xfrm>
            <a:off x="1161641" y="4633615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C4B5F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⚙</a:t>
            </a:r>
            <a:endParaRPr lang="en-US" sz="914" dirty="0"/>
          </a:p>
        </p:txBody>
      </p:sp>
      <p:sp>
        <p:nvSpPr>
          <p:cNvPr id="21" name="Text 16"/>
          <p:cNvSpPr/>
          <p:nvPr/>
        </p:nvSpPr>
        <p:spPr>
          <a:xfrm>
            <a:off x="2097249" y="4577036"/>
            <a:ext cx="1147130" cy="206026"/>
          </a:xfrm>
          <a:prstGeom prst="roundRect">
            <a:avLst>
              <a:gd name="adj" fmla="val 4618580"/>
            </a:avLst>
          </a:prstGeom>
          <a:solidFill>
            <a:srgbClr val="22D3EE">
              <a:alpha val="8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2325849" y="4630936"/>
            <a:ext cx="961392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600" dirty="0">
                <a:solidFill>
                  <a:srgbClr val="7DD3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25,000-shot Monte Carlo</a:t>
            </a:r>
            <a:endParaRPr lang="en-US" sz="600" dirty="0"/>
          </a:p>
        </p:txBody>
      </p:sp>
      <p:sp>
        <p:nvSpPr>
          <p:cNvPr id="23" name="Text 18"/>
          <p:cNvSpPr/>
          <p:nvPr/>
        </p:nvSpPr>
        <p:spPr>
          <a:xfrm>
            <a:off x="2190117" y="4633615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7DD3F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14" dirty="0"/>
          </a:p>
        </p:txBody>
      </p:sp>
      <p:sp>
        <p:nvSpPr>
          <p:cNvPr id="24" name="Text 19"/>
          <p:cNvSpPr/>
          <p:nvPr/>
        </p:nvSpPr>
        <p:spPr>
          <a:xfrm>
            <a:off x="3330104" y="4577036"/>
            <a:ext cx="1134294" cy="206026"/>
          </a:xfrm>
          <a:prstGeom prst="roundRect">
            <a:avLst>
              <a:gd name="adj" fmla="val 4618580"/>
            </a:avLst>
          </a:prstGeom>
          <a:solidFill>
            <a:srgbClr val="8B5CF6">
              <a:alpha val="12000"/>
            </a:srgbClr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3558704" y="4630936"/>
            <a:ext cx="948556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600" dirty="0">
                <a:solidFill>
                  <a:srgbClr val="C4B5F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PDF/JSON/CSV exports</a:t>
            </a:r>
            <a:endParaRPr lang="en-US" sz="600" dirty="0"/>
          </a:p>
        </p:txBody>
      </p:sp>
      <p:sp>
        <p:nvSpPr>
          <p:cNvPr id="26" name="Text 21"/>
          <p:cNvSpPr/>
          <p:nvPr/>
        </p:nvSpPr>
        <p:spPr>
          <a:xfrm>
            <a:off x="3422972" y="4633615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C4B5F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914" dirty="0"/>
          </a:p>
        </p:txBody>
      </p:sp>
      <p:sp>
        <p:nvSpPr>
          <p:cNvPr id="27" name="Text 22"/>
          <p:cNvSpPr/>
          <p:nvPr/>
        </p:nvSpPr>
        <p:spPr>
          <a:xfrm>
            <a:off x="4553694" y="4591645"/>
            <a:ext cx="1152488" cy="176808"/>
          </a:xfrm>
          <a:prstGeom prst="roundRect">
            <a:avLst>
              <a:gd name="adj" fmla="val 5381812"/>
            </a:avLst>
          </a:prstGeom>
          <a:solidFill>
            <a:srgbClr val="22D3EE">
              <a:alpha val="8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3"/>
          <p:cNvSpPr/>
          <p:nvPr/>
        </p:nvSpPr>
        <p:spPr>
          <a:xfrm>
            <a:off x="4778722" y="4630936"/>
            <a:ext cx="3908078" cy="125403"/>
          </a:xfrm>
          <a:prstGeom prst="rect">
            <a:avLst/>
          </a:prstGeom>
          <a:noFill/>
          <a:ln/>
        </p:spPr>
        <p:txBody>
          <a:bodyPr wrap="none" lIns="85725" tIns="28575" rIns="85725" bIns="28575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55-assertion engine tests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4642991" y="4633615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7DD3F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1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71475"/>
            <a:ext cx="8636000" cy="135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PHASE 2 · METHODOLOGY (1/2)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57200" y="533995"/>
            <a:ext cx="8636000" cy="311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68"/>
              </a:lnSpc>
              <a:buNone/>
            </a:pPr>
            <a:r>
              <a:rPr lang="en-US" sz="2025" b="1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the prototype was built</a:t>
            </a:r>
            <a:endParaRPr lang="en-US" sz="2025" dirty="0"/>
          </a:p>
        </p:txBody>
      </p:sp>
      <p:sp>
        <p:nvSpPr>
          <p:cNvPr id="5" name="Text 2"/>
          <p:cNvSpPr/>
          <p:nvPr/>
        </p:nvSpPr>
        <p:spPr>
          <a:xfrm>
            <a:off x="460772" y="954137"/>
            <a:ext cx="4707731" cy="3814316"/>
          </a:xfrm>
          <a:prstGeom prst="roundRect">
            <a:avLst>
              <a:gd name="adj" fmla="val 3496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21506" y="111308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8B5C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✿</a:t>
            </a:r>
            <a:endParaRPr lang="en-US" sz="1266" dirty="0"/>
          </a:p>
        </p:txBody>
      </p:sp>
      <p:sp>
        <p:nvSpPr>
          <p:cNvPr id="7" name="Text 4"/>
          <p:cNvSpPr/>
          <p:nvPr/>
        </p:nvSpPr>
        <p:spPr>
          <a:xfrm>
            <a:off x="814388" y="1086296"/>
            <a:ext cx="4193381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 flow</a:t>
            </a:r>
            <a:endParaRPr lang="en-US" sz="956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231" y="1454200"/>
            <a:ext cx="7144" cy="305350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5078" y="1950244"/>
            <a:ext cx="178594" cy="178594"/>
          </a:xfrm>
          <a:prstGeom prst="roundRect">
            <a:avLst>
              <a:gd name="adj" fmla="val 5327993"/>
            </a:avLst>
          </a:prstGeom>
          <a:solidFill>
            <a:srgbClr val="0D0B1C"/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621506" y="1946672"/>
            <a:ext cx="23217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C4B5F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900113" y="1946672"/>
            <a:ext cx="4107656" cy="33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Scope lock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analyse 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all_with_noise_prob.py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; accept only its 2 codes and 3 channels into every dropdown.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625078" y="2359447"/>
            <a:ext cx="178594" cy="178594"/>
          </a:xfrm>
          <a:prstGeom prst="roundRect">
            <a:avLst>
              <a:gd name="adj" fmla="val 5327993"/>
            </a:avLst>
          </a:prstGeom>
          <a:solidFill>
            <a:srgbClr val="0D0B1C"/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621506" y="2355875"/>
            <a:ext cx="23217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C4B5F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900113" y="2355875"/>
            <a:ext cx="4107656" cy="33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 first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implement a from-scratch TypeScript state-vector simulator (gates, CNOT, projective Pauli measurement, partial trace, fidelity, Bloch readout).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25078" y="2768650"/>
            <a:ext cx="178594" cy="178594"/>
          </a:xfrm>
          <a:prstGeom prst="roundRect">
            <a:avLst>
              <a:gd name="adj" fmla="val 5327993"/>
            </a:avLst>
          </a:prstGeom>
          <a:solidFill>
            <a:srgbClr val="0D0B1C"/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621506" y="2765078"/>
            <a:ext cx="23217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C4B5F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900113" y="2765078"/>
            <a:ext cx="4107656" cy="50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Port the program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bit_flip_qec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phase_flip_qec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become encoding circuits + stabilizer checks + syndrome-to-correction tables; 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build_noise_model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becomes quantum-trajectory sampling of X, Z and depolarizing channels.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625078" y="3321732"/>
            <a:ext cx="178594" cy="178594"/>
          </a:xfrm>
          <a:prstGeom prst="roundRect">
            <a:avLst>
              <a:gd name="adj" fmla="val 5327993"/>
            </a:avLst>
          </a:prstGeom>
          <a:solidFill>
            <a:srgbClr val="0D0B1C"/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621506" y="3318160"/>
            <a:ext cx="23217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C4B5F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900113" y="3318160"/>
            <a:ext cx="4107656" cy="33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Labs on top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Simulator Lab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(single shot), 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 Lab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(Monte Carlo + sweeps + showdown), 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3D Quantum Lab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(Bloch-sphere visualizers), Learn/Reference/About.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25078" y="3730935"/>
            <a:ext cx="178594" cy="178594"/>
          </a:xfrm>
          <a:prstGeom prst="roundRect">
            <a:avLst>
              <a:gd name="adj" fmla="val 5327993"/>
            </a:avLst>
          </a:prstGeom>
          <a:solidFill>
            <a:srgbClr val="0D0B1C"/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621506" y="3727363"/>
            <a:ext cx="23217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C4B5F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900113" y="3727363"/>
            <a:ext cx="4107656" cy="33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Verify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 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55-assertion engine suite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: correction correctness, syndrome mapping, sampling rates, MC vs analytic theory.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5347097" y="954137"/>
            <a:ext cx="3336131" cy="1846436"/>
          </a:xfrm>
          <a:prstGeom prst="roundRect">
            <a:avLst>
              <a:gd name="adj" fmla="val 7222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5507831" y="148020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6" name="Text 22"/>
          <p:cNvSpPr/>
          <p:nvPr/>
        </p:nvSpPr>
        <p:spPr>
          <a:xfrm>
            <a:off x="5700713" y="1453418"/>
            <a:ext cx="2821781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engine, no mocks</a:t>
            </a:r>
            <a:endParaRPr lang="en-US" sz="956" dirty="0"/>
          </a:p>
        </p:txBody>
      </p:sp>
      <p:sp>
        <p:nvSpPr>
          <p:cNvPr id="27" name="Text 23"/>
          <p:cNvSpPr/>
          <p:nvPr/>
        </p:nvSpPr>
        <p:spPr>
          <a:xfrm>
            <a:off x="5507831" y="1707021"/>
            <a:ext cx="3014663" cy="7021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tab renders engine output — amplitudes, syndromes, fidelities and trajectories are computed on click, </a:t>
            </a:r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seeded and reproducible</a:t>
            </a:r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(seed shown in the UI). Reload with the same seed and </a:t>
            </a:r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exact same noise plays again</a:t>
            </a:r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5347097" y="2922017"/>
            <a:ext cx="3336131" cy="1846436"/>
          </a:xfrm>
          <a:prstGeom prst="roundRect">
            <a:avLst>
              <a:gd name="adj" fmla="val 7222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5507831" y="330030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8B5C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66" dirty="0"/>
          </a:p>
        </p:txBody>
      </p:sp>
      <p:sp>
        <p:nvSpPr>
          <p:cNvPr id="30" name="Text 26"/>
          <p:cNvSpPr/>
          <p:nvPr/>
        </p:nvSpPr>
        <p:spPr>
          <a:xfrm>
            <a:off x="5700713" y="3273512"/>
            <a:ext cx="2821781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Matched vs unmatched pairing</a:t>
            </a:r>
            <a:endParaRPr lang="en-US" sz="956" dirty="0"/>
          </a:p>
        </p:txBody>
      </p:sp>
      <p:sp>
        <p:nvSpPr>
          <p:cNvPr id="31" name="Text 27"/>
          <p:cNvSpPr/>
          <p:nvPr/>
        </p:nvSpPr>
        <p:spPr>
          <a:xfrm>
            <a:off x="5511403" y="3544974"/>
            <a:ext cx="3007519" cy="398487"/>
          </a:xfrm>
          <a:prstGeom prst="roundRect">
            <a:avLst>
              <a:gd name="adj" fmla="val 19122"/>
            </a:avLst>
          </a:prstGeom>
          <a:solidFill>
            <a:srgbClr val="FFFFFF">
              <a:alpha val="3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8"/>
          <p:cNvSpPr/>
          <p:nvPr/>
        </p:nvSpPr>
        <p:spPr>
          <a:xfrm>
            <a:off x="5507831" y="3541402"/>
            <a:ext cx="3014663" cy="442493"/>
          </a:xfrm>
          <a:prstGeom prst="rect">
            <a:avLst/>
          </a:prstGeom>
          <a:noFill/>
          <a:ln/>
        </p:spPr>
        <p:txBody>
          <a:bodyPr wrap="square" lIns="85725" tIns="64294" rIns="85725" bIns="64294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800" b="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Bit-Flip code:</a:t>
            </a:r>
            <a:pPr algn="l" indent="0" marL="0">
              <a:lnSpc>
                <a:spcPts val="1035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X-noise </a:t>
            </a:r>
            <a:pPr algn="l" indent="0" marL="0">
              <a:lnSpc>
                <a:spcPts val="1035"/>
              </a:lnSpc>
              <a:buNone/>
            </a:pPr>
            <a:r>
              <a:rPr lang="en-US" sz="800" b="1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MATCHED (100% recovery)</a:t>
            </a:r>
            <a:pPr algn="l" indent="0" marL="0">
              <a:lnSpc>
                <a:spcPts val="1035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Z-noise invisible · depol partial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5511403" y="4014899"/>
            <a:ext cx="3007519" cy="398487"/>
          </a:xfrm>
          <a:prstGeom prst="roundRect">
            <a:avLst>
              <a:gd name="adj" fmla="val 19122"/>
            </a:avLst>
          </a:prstGeom>
          <a:solidFill>
            <a:srgbClr val="FFFFFF">
              <a:alpha val="3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0"/>
          <p:cNvSpPr/>
          <p:nvPr/>
        </p:nvSpPr>
        <p:spPr>
          <a:xfrm>
            <a:off x="5507831" y="4011327"/>
            <a:ext cx="3014663" cy="541782"/>
          </a:xfrm>
          <a:prstGeom prst="rect">
            <a:avLst/>
          </a:prstGeom>
          <a:noFill/>
          <a:ln/>
        </p:spPr>
        <p:txBody>
          <a:bodyPr wrap="square" lIns="85725" tIns="64294" rIns="85725" bIns="64294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800" b="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Phase-Flip code:</a:t>
            </a:r>
            <a:pPr algn="l" indent="0" marL="0">
              <a:lnSpc>
                <a:spcPts val="1035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Z-noise </a:t>
            </a:r>
            <a:pPr algn="l" indent="0" marL="0">
              <a:lnSpc>
                <a:spcPts val="1035"/>
              </a:lnSpc>
              <a:buNone/>
            </a:pPr>
            <a:r>
              <a:rPr lang="en-US" sz="800" b="1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MATCHED (100% recovery)</a:t>
            </a:r>
            <a:pPr algn="l" indent="0" marL="0">
              <a:lnSpc>
                <a:spcPts val="1035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X-noise </a:t>
            </a:r>
            <a:pPr algn="l" indent="0" marL="0">
              <a:lnSpc>
                <a:spcPts val="1035"/>
              </a:lnSpc>
              <a:buNone/>
            </a:pPr>
            <a:r>
              <a:rPr lang="en-US" sz="800" b="1" dirty="0">
                <a:solidFill>
                  <a:srgbClr val="FB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undetectable</a:t>
            </a:r>
            <a:pPr algn="l" indent="0" marL="0">
              <a:lnSpc>
                <a:spcPts val="1035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depol partial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tmp/h2p-svg-1791960333604-7hm90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64965"/>
            <a:ext cx="8229600" cy="18573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371475"/>
            <a:ext cx="8636000" cy="135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2 · METHODOLOGY (2/2) — THE FLOW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457200" y="533995"/>
            <a:ext cx="8636000" cy="311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68"/>
              </a:lnSpc>
              <a:buNone/>
            </a:pPr>
            <a:r>
              <a:rPr lang="en-US" sz="2025" b="1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flow: one run, end to end</a:t>
            </a:r>
            <a:endParaRPr lang="en-US" sz="2025" dirty="0"/>
          </a:p>
        </p:txBody>
      </p:sp>
      <p:sp>
        <p:nvSpPr>
          <p:cNvPr id="6" name="Text 2"/>
          <p:cNvSpPr/>
          <p:nvPr/>
        </p:nvSpPr>
        <p:spPr>
          <a:xfrm>
            <a:off x="460772" y="982712"/>
            <a:ext cx="1921669" cy="878681"/>
          </a:xfrm>
          <a:prstGeom prst="roundRect">
            <a:avLst>
              <a:gd name="adj" fmla="val 15176"/>
            </a:avLst>
          </a:prstGeom>
          <a:solidFill>
            <a:srgbClr val="22D3EE">
              <a:alpha val="6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571500" y="1079153"/>
            <a:ext cx="1700213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7DD3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571500" y="1207740"/>
            <a:ext cx="1700213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User Input</a:t>
            </a:r>
            <a:endParaRPr lang="en-US" sz="872" dirty="0"/>
          </a:p>
        </p:txBody>
      </p:sp>
      <p:sp>
        <p:nvSpPr>
          <p:cNvPr id="9" name="Text 5"/>
          <p:cNvSpPr/>
          <p:nvPr/>
        </p:nvSpPr>
        <p:spPr>
          <a:xfrm>
            <a:off x="571500" y="1652439"/>
            <a:ext cx="1802225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· noise · p · state · seed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2386013" y="133632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8B5C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406" dirty="0"/>
          </a:p>
        </p:txBody>
      </p:sp>
      <p:sp>
        <p:nvSpPr>
          <p:cNvPr id="11" name="Text 7"/>
          <p:cNvSpPr/>
          <p:nvPr/>
        </p:nvSpPr>
        <p:spPr>
          <a:xfrm>
            <a:off x="2561034" y="982712"/>
            <a:ext cx="1921669" cy="878681"/>
          </a:xfrm>
          <a:prstGeom prst="roundRect">
            <a:avLst>
              <a:gd name="adj" fmla="val 15176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2671763" y="1079153"/>
            <a:ext cx="1700213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C4B5F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2671763" y="1207740"/>
            <a:ext cx="1700213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Encoding</a:t>
            </a:r>
            <a:endParaRPr lang="en-US" sz="872" dirty="0"/>
          </a:p>
        </p:txBody>
      </p:sp>
      <p:sp>
        <p:nvSpPr>
          <p:cNvPr id="14" name="Text 10"/>
          <p:cNvSpPr/>
          <p:nvPr/>
        </p:nvSpPr>
        <p:spPr>
          <a:xfrm>
            <a:off x="2671763" y="1539925"/>
            <a:ext cx="1700213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CX ladder spreads |psi&gt; across 3 qubits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4486275" y="133632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8B5C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406" dirty="0"/>
          </a:p>
        </p:txBody>
      </p:sp>
      <p:sp>
        <p:nvSpPr>
          <p:cNvPr id="16" name="Text 12"/>
          <p:cNvSpPr/>
          <p:nvPr/>
        </p:nvSpPr>
        <p:spPr>
          <a:xfrm>
            <a:off x="4661297" y="982712"/>
            <a:ext cx="1921669" cy="878681"/>
          </a:xfrm>
          <a:prstGeom prst="roundRect">
            <a:avLst>
              <a:gd name="adj" fmla="val 15176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4772025" y="1079153"/>
            <a:ext cx="1700213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C4B5F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4772025" y="1207740"/>
            <a:ext cx="1700213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Noise Model</a:t>
            </a:r>
            <a:endParaRPr lang="en-US" sz="872" dirty="0"/>
          </a:p>
        </p:txBody>
      </p:sp>
      <p:sp>
        <p:nvSpPr>
          <p:cNvPr id="19" name="Text 15"/>
          <p:cNvSpPr/>
          <p:nvPr/>
        </p:nvSpPr>
        <p:spPr>
          <a:xfrm>
            <a:off x="4772025" y="1539925"/>
            <a:ext cx="1700213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/ Z / depolarizing sampled per qubit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6586538" y="133632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8B5C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406" dirty="0"/>
          </a:p>
        </p:txBody>
      </p:sp>
      <p:sp>
        <p:nvSpPr>
          <p:cNvPr id="21" name="Text 17"/>
          <p:cNvSpPr/>
          <p:nvPr/>
        </p:nvSpPr>
        <p:spPr>
          <a:xfrm>
            <a:off x="6761559" y="982712"/>
            <a:ext cx="1921669" cy="878681"/>
          </a:xfrm>
          <a:prstGeom prst="roundRect">
            <a:avLst>
              <a:gd name="adj" fmla="val 15176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6872288" y="1079153"/>
            <a:ext cx="1700213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C4B5F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6872288" y="1207740"/>
            <a:ext cx="1700213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Syndrome</a:t>
            </a:r>
            <a:endParaRPr lang="en-US" sz="872" dirty="0"/>
          </a:p>
        </p:txBody>
      </p:sp>
      <p:sp>
        <p:nvSpPr>
          <p:cNvPr id="24" name="Text 20"/>
          <p:cNvSpPr/>
          <p:nvPr/>
        </p:nvSpPr>
        <p:spPr>
          <a:xfrm>
            <a:off x="6872288" y="1652439"/>
            <a:ext cx="1802225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Z0Z1 and Z1Z2 parity checks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460772" y="2054275"/>
            <a:ext cx="1921669" cy="878681"/>
          </a:xfrm>
          <a:prstGeom prst="roundRect">
            <a:avLst>
              <a:gd name="adj" fmla="val 15176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571500" y="2150715"/>
            <a:ext cx="1700213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C4B5F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571500" y="2279303"/>
            <a:ext cx="1700213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Correction</a:t>
            </a:r>
            <a:endParaRPr lang="en-US" sz="872" dirty="0"/>
          </a:p>
        </p:txBody>
      </p:sp>
      <p:sp>
        <p:nvSpPr>
          <p:cNvPr id="28" name="Text 24"/>
          <p:cNvSpPr/>
          <p:nvPr/>
        </p:nvSpPr>
        <p:spPr>
          <a:xfrm>
            <a:off x="571500" y="2724001"/>
            <a:ext cx="1802225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01-&gt;q0 · 11-&gt;q1 · 10-&gt;q2 lookup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2386013" y="2407890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8B5C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406" dirty="0"/>
          </a:p>
        </p:txBody>
      </p:sp>
      <p:sp>
        <p:nvSpPr>
          <p:cNvPr id="30" name="Text 26"/>
          <p:cNvSpPr/>
          <p:nvPr/>
        </p:nvSpPr>
        <p:spPr>
          <a:xfrm>
            <a:off x="2561034" y="2054275"/>
            <a:ext cx="1921669" cy="878681"/>
          </a:xfrm>
          <a:prstGeom prst="roundRect">
            <a:avLst>
              <a:gd name="adj" fmla="val 15176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2671763" y="2150715"/>
            <a:ext cx="1700213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C4B5F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2671763" y="2279303"/>
            <a:ext cx="1700213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Decoding</a:t>
            </a:r>
            <a:endParaRPr lang="en-US" sz="872" dirty="0"/>
          </a:p>
        </p:txBody>
      </p:sp>
      <p:sp>
        <p:nvSpPr>
          <p:cNvPr id="33" name="Text 29"/>
          <p:cNvSpPr/>
          <p:nvPr/>
        </p:nvSpPr>
        <p:spPr>
          <a:xfrm>
            <a:off x="2671763" y="2724001"/>
            <a:ext cx="1802225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inverse CX ladder to 1 qubit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4486275" y="2407890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8B5C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406" dirty="0"/>
          </a:p>
        </p:txBody>
      </p:sp>
      <p:sp>
        <p:nvSpPr>
          <p:cNvPr id="35" name="Text 31"/>
          <p:cNvSpPr/>
          <p:nvPr/>
        </p:nvSpPr>
        <p:spPr>
          <a:xfrm>
            <a:off x="4661297" y="2054275"/>
            <a:ext cx="1921669" cy="878681"/>
          </a:xfrm>
          <a:prstGeom prst="roundRect">
            <a:avLst>
              <a:gd name="adj" fmla="val 15176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2"/>
          <p:cNvSpPr/>
          <p:nvPr/>
        </p:nvSpPr>
        <p:spPr>
          <a:xfrm>
            <a:off x="4772025" y="2150715"/>
            <a:ext cx="1700213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C4B5F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4772025" y="2279303"/>
            <a:ext cx="1700213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Measurement</a:t>
            </a:r>
            <a:endParaRPr lang="en-US" sz="872" dirty="0"/>
          </a:p>
        </p:txBody>
      </p:sp>
      <p:sp>
        <p:nvSpPr>
          <p:cNvPr id="38" name="Text 34"/>
          <p:cNvSpPr/>
          <p:nvPr/>
        </p:nvSpPr>
        <p:spPr>
          <a:xfrm>
            <a:off x="4772025" y="2724001"/>
            <a:ext cx="1802225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logical readout + fidelity</a:t>
            </a:r>
            <a:endParaRPr lang="en-US" sz="800" dirty="0"/>
          </a:p>
        </p:txBody>
      </p:sp>
      <p:sp>
        <p:nvSpPr>
          <p:cNvPr id="39" name="Text 35"/>
          <p:cNvSpPr/>
          <p:nvPr/>
        </p:nvSpPr>
        <p:spPr>
          <a:xfrm>
            <a:off x="6586538" y="2407890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406" dirty="0"/>
          </a:p>
        </p:txBody>
      </p:sp>
      <p:sp>
        <p:nvSpPr>
          <p:cNvPr id="40" name="Text 36"/>
          <p:cNvSpPr/>
          <p:nvPr/>
        </p:nvSpPr>
        <p:spPr>
          <a:xfrm>
            <a:off x="6761559" y="2054275"/>
            <a:ext cx="1921669" cy="878681"/>
          </a:xfrm>
          <a:prstGeom prst="roundRect">
            <a:avLst>
              <a:gd name="adj" fmla="val 15176"/>
            </a:avLst>
          </a:prstGeom>
          <a:solidFill>
            <a:srgbClr val="34D399">
              <a:alpha val="7000"/>
            </a:srgbClr>
          </a:solidFill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7"/>
          <p:cNvSpPr/>
          <p:nvPr/>
        </p:nvSpPr>
        <p:spPr>
          <a:xfrm>
            <a:off x="6872288" y="2150715"/>
            <a:ext cx="1700213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6EE7B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6872288" y="2279303"/>
            <a:ext cx="1700213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</a:t>
            </a:r>
            <a:endParaRPr lang="en-US" sz="872" dirty="0"/>
          </a:p>
        </p:txBody>
      </p:sp>
      <p:sp>
        <p:nvSpPr>
          <p:cNvPr id="43" name="Text 39"/>
          <p:cNvSpPr/>
          <p:nvPr/>
        </p:nvSpPr>
        <p:spPr>
          <a:xfrm>
            <a:off x="6872288" y="2724001"/>
            <a:ext cx="1700212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Monte Carlo over N shots</a:t>
            </a:r>
            <a:endParaRPr lang="en-US" sz="800" dirty="0"/>
          </a:p>
        </p:txBody>
      </p:sp>
      <p:sp>
        <p:nvSpPr>
          <p:cNvPr id="44" name="Text 40"/>
          <p:cNvSpPr/>
          <p:nvPr/>
        </p:nvSpPr>
        <p:spPr>
          <a:xfrm>
            <a:off x="457200" y="3093690"/>
            <a:ext cx="131656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YOU SEE IT</a:t>
            </a:r>
            <a:endParaRPr lang="en-US" sz="800" dirty="0"/>
          </a:p>
        </p:txBody>
      </p:sp>
      <p:sp>
        <p:nvSpPr>
          <p:cNvPr id="45" name="Text 41"/>
          <p:cNvSpPr/>
          <p:nvPr/>
        </p:nvSpPr>
        <p:spPr>
          <a:xfrm>
            <a:off x="1529544" y="3146375"/>
            <a:ext cx="7157256" cy="7144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2"/>
          <p:cNvSpPr/>
          <p:nvPr/>
        </p:nvSpPr>
        <p:spPr>
          <a:xfrm>
            <a:off x="460772" y="3288357"/>
            <a:ext cx="1985963" cy="467469"/>
          </a:xfrm>
          <a:prstGeom prst="roundRect">
            <a:avLst>
              <a:gd name="adj" fmla="val 28526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3"/>
          <p:cNvSpPr/>
          <p:nvPr/>
        </p:nvSpPr>
        <p:spPr>
          <a:xfrm>
            <a:off x="564356" y="3390156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▶</a:t>
            </a:r>
            <a:endParaRPr lang="en-US" sz="1125" dirty="0"/>
          </a:p>
        </p:txBody>
      </p:sp>
      <p:sp>
        <p:nvSpPr>
          <p:cNvPr id="48" name="Text 44"/>
          <p:cNvSpPr/>
          <p:nvPr/>
        </p:nvSpPr>
        <p:spPr>
          <a:xfrm>
            <a:off x="735806" y="3377654"/>
            <a:ext cx="160734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Simulator Lab</a:t>
            </a:r>
            <a:endParaRPr lang="en-US" sz="800" dirty="0"/>
          </a:p>
        </p:txBody>
      </p:sp>
      <p:sp>
        <p:nvSpPr>
          <p:cNvPr id="49" name="Text 45"/>
          <p:cNvSpPr/>
          <p:nvPr/>
        </p:nvSpPr>
        <p:spPr>
          <a:xfrm>
            <a:off x="564356" y="3552676"/>
            <a:ext cx="1885521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shot, every intermediate state</a:t>
            </a:r>
            <a:endParaRPr lang="en-US" sz="619" dirty="0"/>
          </a:p>
        </p:txBody>
      </p:sp>
      <p:sp>
        <p:nvSpPr>
          <p:cNvPr id="50" name="Text 46"/>
          <p:cNvSpPr/>
          <p:nvPr/>
        </p:nvSpPr>
        <p:spPr>
          <a:xfrm>
            <a:off x="2539603" y="3288357"/>
            <a:ext cx="1985963" cy="467469"/>
          </a:xfrm>
          <a:prstGeom prst="roundRect">
            <a:avLst>
              <a:gd name="adj" fmla="val 28526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7"/>
          <p:cNvSpPr/>
          <p:nvPr/>
        </p:nvSpPr>
        <p:spPr>
          <a:xfrm>
            <a:off x="2643188" y="3390156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8B5C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125" dirty="0"/>
          </a:p>
        </p:txBody>
      </p:sp>
      <p:sp>
        <p:nvSpPr>
          <p:cNvPr id="52" name="Text 48"/>
          <p:cNvSpPr/>
          <p:nvPr/>
        </p:nvSpPr>
        <p:spPr>
          <a:xfrm>
            <a:off x="2814638" y="3377654"/>
            <a:ext cx="160734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 Lab</a:t>
            </a:r>
            <a:endParaRPr lang="en-US" sz="800" dirty="0"/>
          </a:p>
        </p:txBody>
      </p:sp>
      <p:sp>
        <p:nvSpPr>
          <p:cNvPr id="53" name="Text 49"/>
          <p:cNvSpPr/>
          <p:nvPr/>
        </p:nvSpPr>
        <p:spPr>
          <a:xfrm>
            <a:off x="2643188" y="3552676"/>
            <a:ext cx="1885521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thousands of shots, curves</a:t>
            </a:r>
            <a:endParaRPr lang="en-US" sz="800" dirty="0"/>
          </a:p>
        </p:txBody>
      </p:sp>
      <p:sp>
        <p:nvSpPr>
          <p:cNvPr id="54" name="Text 50"/>
          <p:cNvSpPr/>
          <p:nvPr/>
        </p:nvSpPr>
        <p:spPr>
          <a:xfrm>
            <a:off x="4618434" y="3288357"/>
            <a:ext cx="1985963" cy="467469"/>
          </a:xfrm>
          <a:prstGeom prst="roundRect">
            <a:avLst>
              <a:gd name="adj" fmla="val 28526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1"/>
          <p:cNvSpPr/>
          <p:nvPr/>
        </p:nvSpPr>
        <p:spPr>
          <a:xfrm>
            <a:off x="4722019" y="3390156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125" dirty="0"/>
          </a:p>
        </p:txBody>
      </p:sp>
      <p:sp>
        <p:nvSpPr>
          <p:cNvPr id="56" name="Text 52"/>
          <p:cNvSpPr/>
          <p:nvPr/>
        </p:nvSpPr>
        <p:spPr>
          <a:xfrm>
            <a:off x="4893469" y="3377654"/>
            <a:ext cx="160734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3D Quantum Lab</a:t>
            </a:r>
            <a:endParaRPr lang="en-US" sz="800" dirty="0"/>
          </a:p>
        </p:txBody>
      </p:sp>
      <p:sp>
        <p:nvSpPr>
          <p:cNvPr id="57" name="Text 53"/>
          <p:cNvSpPr/>
          <p:nvPr/>
        </p:nvSpPr>
        <p:spPr>
          <a:xfrm>
            <a:off x="4722019" y="3552676"/>
            <a:ext cx="1885521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same pipeline on the Bloch sphere</a:t>
            </a:r>
            <a:endParaRPr lang="en-US" sz="619" dirty="0"/>
          </a:p>
        </p:txBody>
      </p:sp>
      <p:sp>
        <p:nvSpPr>
          <p:cNvPr id="58" name="Text 54"/>
          <p:cNvSpPr/>
          <p:nvPr/>
        </p:nvSpPr>
        <p:spPr>
          <a:xfrm>
            <a:off x="6697266" y="3288357"/>
            <a:ext cx="1985963" cy="467469"/>
          </a:xfrm>
          <a:prstGeom prst="roundRect">
            <a:avLst>
              <a:gd name="adj" fmla="val 28526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5"/>
          <p:cNvSpPr/>
          <p:nvPr/>
        </p:nvSpPr>
        <p:spPr>
          <a:xfrm>
            <a:off x="6800850" y="3390156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8B5C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125" dirty="0"/>
          </a:p>
        </p:txBody>
      </p:sp>
      <p:sp>
        <p:nvSpPr>
          <p:cNvPr id="60" name="Text 56"/>
          <p:cNvSpPr/>
          <p:nvPr/>
        </p:nvSpPr>
        <p:spPr>
          <a:xfrm>
            <a:off x="6972300" y="3377654"/>
            <a:ext cx="160734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Exports</a:t>
            </a:r>
            <a:endParaRPr lang="en-US" sz="800" dirty="0"/>
          </a:p>
        </p:txBody>
      </p:sp>
      <p:sp>
        <p:nvSpPr>
          <p:cNvPr id="61" name="Text 57"/>
          <p:cNvSpPr/>
          <p:nvPr/>
        </p:nvSpPr>
        <p:spPr>
          <a:xfrm>
            <a:off x="6800850" y="3552676"/>
            <a:ext cx="1885521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PDF / JSON / CSV of everything</a:t>
            </a:r>
            <a:endParaRPr lang="en-US" sz="800" dirty="0"/>
          </a:p>
        </p:txBody>
      </p:sp>
      <p:sp>
        <p:nvSpPr>
          <p:cNvPr id="62" name="Text 58"/>
          <p:cNvSpPr/>
          <p:nvPr/>
        </p:nvSpPr>
        <p:spPr>
          <a:xfrm>
            <a:off x="460772" y="4374877"/>
            <a:ext cx="8222456" cy="393576"/>
          </a:xfrm>
          <a:prstGeom prst="roundRect">
            <a:avLst>
              <a:gd name="adj" fmla="val 33882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59"/>
          <p:cNvSpPr/>
          <p:nvPr/>
        </p:nvSpPr>
        <p:spPr>
          <a:xfrm>
            <a:off x="578644" y="451451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8B5C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64" name="Text 60"/>
          <p:cNvSpPr/>
          <p:nvPr/>
        </p:nvSpPr>
        <p:spPr>
          <a:xfrm>
            <a:off x="778669" y="4449887"/>
            <a:ext cx="7786688" cy="243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 pipeline as </a:t>
            </a:r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all_with_noise_prob.py</a:t>
            </a:r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— input -&gt; encode -&gt; id-gate noise -&gt; syndrome -&gt; if_test correction -&gt; decode -&gt; measure — extended with a bare-qubit baseline for the before/after comparison.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71475"/>
            <a:ext cx="6031918" cy="127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PHASE 2 · RESULTS (1/2)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57200" y="526852"/>
            <a:ext cx="5255858" cy="31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spc="-20" kern="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Simulated runs — noise models at work</a:t>
            </a:r>
            <a:endParaRPr lang="en-US" sz="2025" dirty="0"/>
          </a:p>
        </p:txBody>
      </p:sp>
      <p:sp>
        <p:nvSpPr>
          <p:cNvPr id="5" name="Text 2"/>
          <p:cNvSpPr/>
          <p:nvPr/>
        </p:nvSpPr>
        <p:spPr>
          <a:xfrm>
            <a:off x="7014270" y="599294"/>
            <a:ext cx="1668959" cy="176808"/>
          </a:xfrm>
          <a:prstGeom prst="roundRect">
            <a:avLst>
              <a:gd name="adj" fmla="val 5381812"/>
            </a:avLst>
          </a:prstGeom>
          <a:solidFill>
            <a:srgbClr val="22D3EE">
              <a:alpha val="8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010698" y="595722"/>
            <a:ext cx="1676102" cy="269095"/>
          </a:xfrm>
          <a:prstGeom prst="rect">
            <a:avLst/>
          </a:prstGeom>
          <a:noFill/>
          <a:ln/>
        </p:spPr>
        <p:txBody>
          <a:bodyPr wrap="square" lIns="85725" tIns="28575" rIns="85725" bIns="28575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600" dirty="0">
                <a:solidFill>
                  <a:srgbClr val="7DD3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SIMULATED RUNS · BROWSER ENGINE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460772" y="911833"/>
            <a:ext cx="4564856" cy="2693194"/>
          </a:xfrm>
          <a:prstGeom prst="roundRect">
            <a:avLst>
              <a:gd name="adj" fmla="val 3537"/>
            </a:avLst>
          </a:prstGeom>
          <a:noFill/>
          <a:ln w="7144">
            <a:solidFill>
              <a:srgbClr val="8B5CF6"/>
            </a:solidFill>
            <a:prstDash val="solid"/>
          </a:ln>
          <a:effectLst>
            <a:outerShdw sx="100000" sy="100000" kx="0" ky="0" algn="bl" rotWithShape="0" blurRad="419100" dist="171450" dir="5400000">
              <a:srgbClr val="000000">
                <a:alpha val="8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1" descr="/tmp/h2p-fit-1791960336998-4zins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344" y="915405"/>
            <a:ext cx="4557713" cy="26860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" y="3665748"/>
            <a:ext cx="4572000" cy="632651"/>
          </a:xfrm>
          <a:prstGeom prst="rect">
            <a:avLst/>
          </a:prstGeom>
          <a:noFill/>
          <a:ln/>
        </p:spPr>
        <p:txBody>
          <a:bodyPr wrap="square" lIns="100013" tIns="64294" rIns="100013" bIns="64294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35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Monte Carlo, 2,000 shots</a:t>
            </a:r>
            <a:pPr algn="l" indent="0" marL="0">
              <a:lnSpc>
                <a:spcPts val="135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bit-flip code under X noise </a:t>
            </a:r>
            <a:pPr algn="l" indent="0" marL="0">
              <a:lnSpc>
                <a:spcPts val="135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p=0.10</a:t>
            </a:r>
            <a:pPr algn="l" indent="0" marL="0">
              <a:lnSpc>
                <a:spcPts val="135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: </a:t>
            </a:r>
            <a:pPr algn="l" indent="0" marL="0">
              <a:lnSpc>
                <a:spcPts val="1350"/>
              </a:lnSpc>
              <a:buNone/>
            </a:pPr>
            <a:r>
              <a:rPr lang="en-US" sz="800" b="1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98.52%</a:t>
            </a:r>
            <a:pPr algn="l" indent="0" marL="0">
              <a:lnSpc>
                <a:spcPts val="135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with QEC vs </a:t>
            </a:r>
            <a:pPr algn="l" indent="0" marL="0">
              <a:lnSpc>
                <a:spcPts val="135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94.71%</a:t>
            </a:r>
            <a:pPr algn="l" indent="0" marL="0">
              <a:lnSpc>
                <a:spcPts val="135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bare (</a:t>
            </a:r>
            <a:pPr algn="l" indent="0" marL="0">
              <a:lnSpc>
                <a:spcPts val="1350"/>
              </a:lnSpc>
              <a:buNone/>
            </a:pPr>
            <a:r>
              <a:rPr lang="en-US" sz="800" b="1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3.59x</a:t>
            </a:r>
            <a:pPr algn="l" indent="0" marL="0">
              <a:lnSpc>
                <a:spcPts val="135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fewer errors), </a:t>
            </a:r>
            <a:pPr algn="l" indent="0" marL="0">
              <a:lnSpc>
                <a:spcPts val="1350"/>
              </a:lnSpc>
              <a:buNone/>
            </a:pPr>
            <a:r>
              <a:rPr lang="en-US" sz="800" b="1" dirty="0">
                <a:solidFill>
                  <a:srgbClr val="E2E8F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5,935 shots/s</a:t>
            </a:r>
            <a:pPr algn="l" indent="0" marL="0">
              <a:lnSpc>
                <a:spcPts val="135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live in the browser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5147072" y="911833"/>
            <a:ext cx="3536156" cy="1164431"/>
          </a:xfrm>
          <a:prstGeom prst="roundRect">
            <a:avLst>
              <a:gd name="adj" fmla="val 8180"/>
            </a:avLst>
          </a:prstGeom>
          <a:noFill/>
          <a:ln w="7144">
            <a:solidFill>
              <a:srgbClr val="8B5CF6"/>
            </a:solidFill>
            <a:prstDash val="solid"/>
          </a:ln>
          <a:effectLst>
            <a:outerShdw sx="100000" sy="100000" kx="0" ky="0" algn="bl" rotWithShape="0" blurRad="419100" dist="171450" dir="5400000">
              <a:srgbClr val="000000">
                <a:alpha val="8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2" descr="/tmp/h2p-fit-1791960337000-1gqww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0644" y="915405"/>
            <a:ext cx="3529013" cy="115728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143500" y="2136986"/>
            <a:ext cx="3543300" cy="432054"/>
          </a:xfrm>
          <a:prstGeom prst="rect">
            <a:avLst/>
          </a:prstGeom>
          <a:noFill/>
          <a:ln/>
        </p:spPr>
        <p:txBody>
          <a:bodyPr wrap="square" lIns="100013" tIns="57150" rIns="100013" bIns="5715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8B5C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35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Single shot</a:t>
            </a:r>
            <a:pPr algn="l" indent="0" marL="0">
              <a:lnSpc>
                <a:spcPts val="135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— X on q1: syndrome </a:t>
            </a:r>
            <a:pPr algn="l" indent="0" marL="0">
              <a:lnSpc>
                <a:spcPts val="135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(1,1)</a:t>
            </a:r>
            <a:pPr algn="l" indent="0" marL="0">
              <a:lnSpc>
                <a:spcPts val="135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flags two parity checks, decoder applies </a:t>
            </a:r>
            <a:pPr algn="l" indent="0" marL="0">
              <a:lnSpc>
                <a:spcPts val="135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X(q1)</a:t>
            </a:r>
            <a:pPr algn="l" indent="0" marL="0">
              <a:lnSpc>
                <a:spcPts val="135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recovery </a:t>
            </a:r>
            <a:pPr algn="l" indent="0" marL="0">
              <a:lnSpc>
                <a:spcPts val="1350"/>
              </a:lnSpc>
              <a:buNone/>
            </a:pPr>
            <a:r>
              <a:rPr lang="en-US" sz="800" b="1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 = 100%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5147072" y="2626333"/>
            <a:ext cx="3536156" cy="1164431"/>
          </a:xfrm>
          <a:prstGeom prst="roundRect">
            <a:avLst>
              <a:gd name="adj" fmla="val 8180"/>
            </a:avLst>
          </a:prstGeom>
          <a:noFill/>
          <a:ln w="7144">
            <a:solidFill>
              <a:srgbClr val="8B5CF6"/>
            </a:solidFill>
            <a:prstDash val="solid"/>
          </a:ln>
          <a:effectLst>
            <a:outerShdw sx="100000" sy="100000" kx="0" ky="0" algn="bl" rotWithShape="0" blurRad="419100" dist="171450" dir="5400000">
              <a:srgbClr val="000000">
                <a:alpha val="8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4" name="Image 3" descr="/tmp/h2p-fit-1791960337003-tu13q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0644" y="2629905"/>
            <a:ext cx="3529013" cy="115728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143500" y="3851486"/>
            <a:ext cx="3543300" cy="432054"/>
          </a:xfrm>
          <a:prstGeom prst="rect">
            <a:avLst/>
          </a:prstGeom>
          <a:noFill/>
          <a:ln/>
        </p:spPr>
        <p:txBody>
          <a:bodyPr wrap="square" lIns="100013" tIns="57150" rIns="100013" bIns="5715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☂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35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Reference</a:t>
            </a:r>
            <a:pPr algn="l" indent="0" marL="0">
              <a:lnSpc>
                <a:spcPts val="135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the three implemented channels: </a:t>
            </a:r>
            <a:pPr algn="l" indent="0" marL="0">
              <a:lnSpc>
                <a:spcPts val="135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Bit-Flip (X)</a:t>
            </a:r>
            <a:pPr algn="l" indent="0" marL="0">
              <a:lnSpc>
                <a:spcPts val="135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pPr algn="l" indent="0" marL="0">
              <a:lnSpc>
                <a:spcPts val="135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Phase-Flip (Z)</a:t>
            </a:r>
            <a:pPr algn="l" indent="0" marL="0">
              <a:lnSpc>
                <a:spcPts val="135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pPr algn="l" indent="0" marL="0">
              <a:lnSpc>
                <a:spcPts val="135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Depolarizing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460772" y="4340833"/>
            <a:ext cx="8222456" cy="321469"/>
          </a:xfrm>
          <a:prstGeom prst="roundRect">
            <a:avLst>
              <a:gd name="adj" fmla="val 41481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1"/>
          <p:cNvSpPr/>
          <p:nvPr/>
        </p:nvSpPr>
        <p:spPr>
          <a:xfrm>
            <a:off x="607219" y="4480136"/>
            <a:ext cx="42863" cy="42863"/>
          </a:xfrm>
          <a:prstGeom prst="ellipse">
            <a:avLst/>
          </a:prstGeom>
          <a:solidFill>
            <a:srgbClr val="22D3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2"/>
          <p:cNvSpPr/>
          <p:nvPr/>
        </p:nvSpPr>
        <p:spPr>
          <a:xfrm>
            <a:off x="707231" y="4439952"/>
            <a:ext cx="10434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syndrome detection</a:t>
            </a:r>
            <a:endParaRPr lang="en-US" sz="800" dirty="0"/>
          </a:p>
        </p:txBody>
      </p:sp>
      <p:sp>
        <p:nvSpPr>
          <p:cNvPr id="19" name="Text 13"/>
          <p:cNvSpPr/>
          <p:nvPr/>
        </p:nvSpPr>
        <p:spPr>
          <a:xfrm>
            <a:off x="1654671" y="4439952"/>
            <a:ext cx="39576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b="1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27.1%</a:t>
            </a:r>
            <a:endParaRPr lang="en-US" sz="800" dirty="0"/>
          </a:p>
        </p:txBody>
      </p:sp>
      <p:sp>
        <p:nvSpPr>
          <p:cNvPr id="20" name="Text 14"/>
          <p:cNvSpPr/>
          <p:nvPr/>
        </p:nvSpPr>
        <p:spPr>
          <a:xfrm>
            <a:off x="2458008" y="4439952"/>
            <a:ext cx="59125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00" dirty="0"/>
          </a:p>
        </p:txBody>
      </p:sp>
      <p:sp>
        <p:nvSpPr>
          <p:cNvPr id="21" name="Text 15"/>
          <p:cNvSpPr/>
          <p:nvPr/>
        </p:nvSpPr>
        <p:spPr>
          <a:xfrm>
            <a:off x="3063553" y="4480136"/>
            <a:ext cx="42863" cy="42863"/>
          </a:xfrm>
          <a:prstGeom prst="ellipse">
            <a:avLst/>
          </a:prstGeom>
          <a:solidFill>
            <a:srgbClr val="22D3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6"/>
          <p:cNvSpPr/>
          <p:nvPr/>
        </p:nvSpPr>
        <p:spPr>
          <a:xfrm>
            <a:off x="3163565" y="4439952"/>
            <a:ext cx="8695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correction rate</a:t>
            </a:r>
            <a:endParaRPr lang="en-US" sz="800" dirty="0"/>
          </a:p>
        </p:txBody>
      </p:sp>
      <p:sp>
        <p:nvSpPr>
          <p:cNvPr id="23" name="Text 17"/>
          <p:cNvSpPr/>
          <p:nvPr/>
        </p:nvSpPr>
        <p:spPr>
          <a:xfrm>
            <a:off x="3962660" y="4439952"/>
            <a:ext cx="39576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b="1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27.1%</a:t>
            </a:r>
            <a:endParaRPr lang="en-US" sz="800" dirty="0"/>
          </a:p>
        </p:txBody>
      </p:sp>
      <p:sp>
        <p:nvSpPr>
          <p:cNvPr id="24" name="Text 18"/>
          <p:cNvSpPr/>
          <p:nvPr/>
        </p:nvSpPr>
        <p:spPr>
          <a:xfrm>
            <a:off x="4765997" y="4439952"/>
            <a:ext cx="59125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00" dirty="0"/>
          </a:p>
        </p:txBody>
      </p:sp>
      <p:sp>
        <p:nvSpPr>
          <p:cNvPr id="25" name="Text 19"/>
          <p:cNvSpPr/>
          <p:nvPr/>
        </p:nvSpPr>
        <p:spPr>
          <a:xfrm>
            <a:off x="5371542" y="4480136"/>
            <a:ext cx="42863" cy="42863"/>
          </a:xfrm>
          <a:prstGeom prst="ellipse">
            <a:avLst/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5444155" y="4439952"/>
            <a:ext cx="69254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 time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6054408" y="4439952"/>
            <a:ext cx="41680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b="1" dirty="0">
                <a:solidFill>
                  <a:srgbClr val="E2E8F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337 ms</a:t>
            </a:r>
            <a:endParaRPr lang="en-US" sz="800" dirty="0"/>
          </a:p>
        </p:txBody>
      </p:sp>
      <p:sp>
        <p:nvSpPr>
          <p:cNvPr id="28" name="Text 22"/>
          <p:cNvSpPr/>
          <p:nvPr/>
        </p:nvSpPr>
        <p:spPr>
          <a:xfrm>
            <a:off x="6925642" y="4439952"/>
            <a:ext cx="59125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00" dirty="0"/>
          </a:p>
        </p:txBody>
      </p:sp>
      <p:sp>
        <p:nvSpPr>
          <p:cNvPr id="29" name="Text 23"/>
          <p:cNvSpPr/>
          <p:nvPr/>
        </p:nvSpPr>
        <p:spPr>
          <a:xfrm>
            <a:off x="7531187" y="4447989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055" dirty="0"/>
          </a:p>
        </p:txBody>
      </p:sp>
      <p:sp>
        <p:nvSpPr>
          <p:cNvPr id="30" name="Text 24"/>
          <p:cNvSpPr/>
          <p:nvPr/>
        </p:nvSpPr>
        <p:spPr>
          <a:xfrm>
            <a:off x="7695493" y="4439952"/>
            <a:ext cx="8412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647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 server calls</a:t>
            </a:r>
            <a:endParaRPr lang="en-US" sz="647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157788" y="1261876"/>
            <a:ext cx="0" cy="246459"/>
          </a:xfrm>
          <a:prstGeom prst="line">
            <a:avLst/>
          </a:prstGeom>
          <a:noFill/>
          <a:ln w="14288">
            <a:solidFill>
              <a:srgbClr val="34D399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157788" y="1796207"/>
            <a:ext cx="0" cy="246459"/>
          </a:xfrm>
          <a:prstGeom prst="line">
            <a:avLst/>
          </a:prstGeom>
          <a:noFill/>
          <a:ln w="14288">
            <a:solidFill>
              <a:srgbClr val="22D3E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157788" y="2330537"/>
            <a:ext cx="0" cy="246459"/>
          </a:xfrm>
          <a:prstGeom prst="line">
            <a:avLst/>
          </a:prstGeom>
          <a:noFill/>
          <a:ln w="14288">
            <a:solidFill>
              <a:srgbClr val="34D39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157788" y="2864867"/>
            <a:ext cx="0" cy="246459"/>
          </a:xfrm>
          <a:prstGeom prst="line">
            <a:avLst/>
          </a:prstGeom>
          <a:noFill/>
          <a:ln w="14288">
            <a:solidFill>
              <a:srgbClr val="FB718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157788" y="3399197"/>
            <a:ext cx="0" cy="246459"/>
          </a:xfrm>
          <a:prstGeom prst="line">
            <a:avLst/>
          </a:prstGeom>
          <a:noFill/>
          <a:ln w="14288">
            <a:solidFill>
              <a:srgbClr val="FBBF2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157788" y="3933527"/>
            <a:ext cx="0" cy="246459"/>
          </a:xfrm>
          <a:prstGeom prst="line">
            <a:avLst/>
          </a:prstGeom>
          <a:noFill/>
          <a:ln w="14288">
            <a:solidFill>
              <a:srgbClr val="34D39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371475"/>
            <a:ext cx="4213578" cy="127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PHASE 2 · RESULTS (2/2)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57200" y="526852"/>
            <a:ext cx="3504579" cy="319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spc="-20" kern="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Sweeps expose the physics</a:t>
            </a:r>
            <a:endParaRPr lang="en-US" sz="2025" dirty="0"/>
          </a:p>
        </p:txBody>
      </p:sp>
      <p:sp>
        <p:nvSpPr>
          <p:cNvPr id="11" name="Text 8"/>
          <p:cNvSpPr/>
          <p:nvPr/>
        </p:nvSpPr>
        <p:spPr>
          <a:xfrm>
            <a:off x="7014270" y="599294"/>
            <a:ext cx="1668959" cy="176808"/>
          </a:xfrm>
          <a:prstGeom prst="roundRect">
            <a:avLst>
              <a:gd name="adj" fmla="val 5381812"/>
            </a:avLst>
          </a:prstGeom>
          <a:solidFill>
            <a:srgbClr val="22D3EE">
              <a:alpha val="8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7010698" y="595722"/>
            <a:ext cx="1676102" cy="269095"/>
          </a:xfrm>
          <a:prstGeom prst="rect">
            <a:avLst/>
          </a:prstGeom>
          <a:noFill/>
          <a:ln/>
        </p:spPr>
        <p:txBody>
          <a:bodyPr wrap="square" lIns="85725" tIns="28575" rIns="85725" bIns="28575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600" dirty="0">
                <a:solidFill>
                  <a:srgbClr val="7DD3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SWEEP 1%..50% · 800 SHOTS / POINT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460772" y="911833"/>
            <a:ext cx="4421981" cy="3264694"/>
          </a:xfrm>
          <a:prstGeom prst="roundRect">
            <a:avLst>
              <a:gd name="adj" fmla="val 2918"/>
            </a:avLst>
          </a:prstGeom>
          <a:noFill/>
          <a:ln w="7144">
            <a:solidFill>
              <a:srgbClr val="8B5CF6"/>
            </a:solidFill>
            <a:prstDash val="solid"/>
          </a:ln>
          <a:effectLst>
            <a:outerShdw sx="100000" sy="100000" kx="0" ky="0" algn="bl" rotWithShape="0" blurRad="419100" dist="171450" dir="5400000">
              <a:srgbClr val="000000">
                <a:alpha val="8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4" name="Image 1" descr="/tmp/h2p-fit-1791960337005-09bgz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344" y="915405"/>
            <a:ext cx="4414838" cy="325755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7200" y="4237248"/>
            <a:ext cx="4429125" cy="577559"/>
          </a:xfrm>
          <a:prstGeom prst="rect">
            <a:avLst/>
          </a:prstGeom>
          <a:noFill/>
          <a:ln/>
        </p:spPr>
        <p:txBody>
          <a:bodyPr wrap="square" lIns="100013" tIns="64294" rIns="100013" bIns="64294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35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Fidelity vs noise strength (1%..50%)</a:t>
            </a:r>
            <a:pPr algn="l" indent="0" marL="0">
              <a:lnSpc>
                <a:spcPts val="135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the bit-flip code stays above the bare qubit until the pseudo-threshold crossover (</a:t>
            </a:r>
            <a:pPr algn="l" indent="0" marL="0">
              <a:lnSpc>
                <a:spcPts val="1350"/>
              </a:lnSpc>
              <a:buNone/>
            </a:pPr>
            <a:r>
              <a:rPr lang="en-US" sz="800" b="1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~42%</a:t>
            </a:r>
            <a:pPr algn="l" indent="0" marL="0">
              <a:lnSpc>
                <a:spcPts val="135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); </a:t>
            </a:r>
            <a:pPr algn="l" indent="0" marL="0">
              <a:lnSpc>
                <a:spcPts val="135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800 shots</a:t>
            </a:r>
            <a:pPr algn="l" indent="0" marL="0">
              <a:lnSpc>
                <a:spcPts val="135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per point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032772" y="911833"/>
            <a:ext cx="3650456" cy="3371738"/>
          </a:xfrm>
          <a:prstGeom prst="roundRect">
            <a:avLst>
              <a:gd name="adj" fmla="val 3955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5150644" y="1035062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8B5C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95" dirty="0"/>
          </a:p>
        </p:txBody>
      </p:sp>
      <p:sp>
        <p:nvSpPr>
          <p:cNvPr id="18" name="Text 14"/>
          <p:cNvSpPr/>
          <p:nvPr/>
        </p:nvSpPr>
        <p:spPr>
          <a:xfrm>
            <a:off x="5329238" y="1015417"/>
            <a:ext cx="1998911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Measured highlights</a:t>
            </a:r>
            <a:endParaRPr lang="en-US" sz="844" dirty="0"/>
          </a:p>
        </p:txBody>
      </p:sp>
      <p:sp>
        <p:nvSpPr>
          <p:cNvPr id="19" name="Text 15"/>
          <p:cNvSpPr/>
          <p:nvPr/>
        </p:nvSpPr>
        <p:spPr>
          <a:xfrm>
            <a:off x="7356723" y="1044885"/>
            <a:ext cx="120863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600" spc="75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MONO · SEED-REPRODUCIBLE</a:t>
            </a:r>
            <a:endParaRPr lang="en-US" sz="600" dirty="0"/>
          </a:p>
        </p:txBody>
      </p:sp>
      <p:sp>
        <p:nvSpPr>
          <p:cNvPr id="20" name="Text 16"/>
          <p:cNvSpPr/>
          <p:nvPr/>
        </p:nvSpPr>
        <p:spPr>
          <a:xfrm>
            <a:off x="5236369" y="1261876"/>
            <a:ext cx="210327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Matched pairing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7382508" y="1269020"/>
            <a:ext cx="118284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 = 100% after correction</a:t>
            </a:r>
            <a:endParaRPr lang="en-US" sz="619" dirty="0"/>
          </a:p>
        </p:txBody>
      </p:sp>
      <p:sp>
        <p:nvSpPr>
          <p:cNvPr id="22" name="Text 18"/>
          <p:cNvSpPr/>
          <p:nvPr/>
        </p:nvSpPr>
        <p:spPr>
          <a:xfrm>
            <a:off x="5236369" y="1401180"/>
            <a:ext cx="332898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Bit-Flip code + X noise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5236369" y="1796207"/>
            <a:ext cx="177220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Monte Carlo vs theory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7051439" y="1803350"/>
            <a:ext cx="160475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0.972 predicted / 0.970 measured</a:t>
            </a:r>
            <a:endParaRPr lang="en-US" sz="619" dirty="0"/>
          </a:p>
        </p:txBody>
      </p:sp>
      <p:sp>
        <p:nvSpPr>
          <p:cNvPr id="25" name="Text 21"/>
          <p:cNvSpPr/>
          <p:nvPr/>
        </p:nvSpPr>
        <p:spPr>
          <a:xfrm>
            <a:off x="5236369" y="1935510"/>
            <a:ext cx="343871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(1-p)^3 + 3p(1-p)^2 at p=0.10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5236369" y="2330537"/>
            <a:ext cx="243445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Improvement @ p=0.10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713687" y="2337681"/>
            <a:ext cx="8516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3.59x fewer errors</a:t>
            </a:r>
            <a:endParaRPr lang="en-US" sz="619" dirty="0"/>
          </a:p>
        </p:txBody>
      </p:sp>
      <p:sp>
        <p:nvSpPr>
          <p:cNvPr id="28" name="Text 24"/>
          <p:cNvSpPr/>
          <p:nvPr/>
        </p:nvSpPr>
        <p:spPr>
          <a:xfrm>
            <a:off x="5236369" y="2469840"/>
            <a:ext cx="332898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Bit-Flip code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5236369" y="2864867"/>
            <a:ext cx="200873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Mismatched pairing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7287964" y="2872011"/>
            <a:ext cx="135403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dirty="0">
                <a:solidFill>
                  <a:srgbClr val="FB71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undetectable — honest 0.45x</a:t>
            </a:r>
            <a:endParaRPr lang="en-US" sz="619" dirty="0"/>
          </a:p>
        </p:txBody>
      </p:sp>
      <p:sp>
        <p:nvSpPr>
          <p:cNvPr id="31" name="Text 27"/>
          <p:cNvSpPr/>
          <p:nvPr/>
        </p:nvSpPr>
        <p:spPr>
          <a:xfrm>
            <a:off x="5236369" y="3004170"/>
            <a:ext cx="332898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Phase-Flip code + X noise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5236369" y="3399197"/>
            <a:ext cx="23399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Sweep crossover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7619144" y="3406341"/>
            <a:ext cx="9462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~42% at theta=60 deg</a:t>
            </a:r>
            <a:endParaRPr lang="en-US" sz="619" dirty="0"/>
          </a:p>
        </p:txBody>
      </p:sp>
      <p:sp>
        <p:nvSpPr>
          <p:cNvPr id="34" name="Text 30"/>
          <p:cNvSpPr/>
          <p:nvPr/>
        </p:nvSpPr>
        <p:spPr>
          <a:xfrm>
            <a:off x="5236369" y="3538500"/>
            <a:ext cx="343871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Bit-Flip code pseudo-threshold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5236369" y="3933527"/>
            <a:ext cx="248178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Code Showdown @ p=0.10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7761015" y="3940671"/>
            <a:ext cx="80434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matched code wins</a:t>
            </a:r>
            <a:endParaRPr lang="en-US" sz="619" dirty="0"/>
          </a:p>
        </p:txBody>
      </p:sp>
      <p:sp>
        <p:nvSpPr>
          <p:cNvPr id="37" name="Text 33"/>
          <p:cNvSpPr/>
          <p:nvPr/>
        </p:nvSpPr>
        <p:spPr>
          <a:xfrm>
            <a:off x="5236369" y="4072830"/>
            <a:ext cx="343871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Bit-Flip 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4.33x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vs Phase-Flip </a:t>
            </a:r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FB71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0.45x</a:t>
            </a:r>
            <a:endParaRPr lang="en-US" sz="800" dirty="0"/>
          </a:p>
        </p:txBody>
      </p:sp>
      <p:sp>
        <p:nvSpPr>
          <p:cNvPr id="38" name="Text 34"/>
          <p:cNvSpPr/>
          <p:nvPr/>
        </p:nvSpPr>
        <p:spPr>
          <a:xfrm>
            <a:off x="5032772" y="4376440"/>
            <a:ext cx="3650456" cy="392013"/>
          </a:xfrm>
          <a:prstGeom prst="roundRect">
            <a:avLst>
              <a:gd name="adj" fmla="val 34017"/>
            </a:avLst>
          </a:prstGeom>
          <a:solidFill>
            <a:srgbClr val="FBBF24">
              <a:alpha val="7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5"/>
          <p:cNvSpPr/>
          <p:nvPr/>
        </p:nvSpPr>
        <p:spPr>
          <a:xfrm>
            <a:off x="5136356" y="450815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266" dirty="0"/>
          </a:p>
        </p:txBody>
      </p:sp>
      <p:sp>
        <p:nvSpPr>
          <p:cNvPr id="40" name="Text 36"/>
          <p:cNvSpPr/>
          <p:nvPr/>
        </p:nvSpPr>
        <p:spPr>
          <a:xfrm>
            <a:off x="5350669" y="4458593"/>
            <a:ext cx="3228975" cy="22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b="1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Honest physics: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the prototype does not hide failures — pairing the phase-flip code with X noise measurably hurts, exactly as the syndrome algebra predicts.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92931" y="1301167"/>
            <a:ext cx="7958138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92931" y="1697645"/>
            <a:ext cx="7958138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92931" y="2094123"/>
            <a:ext cx="7958138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371475"/>
            <a:ext cx="8138921" cy="127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2 · COMPARATIVE ANALYSIS + REFERENCES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526852"/>
            <a:ext cx="7320826" cy="31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spc="-20" kern="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Codes under identical noise, and the literature behind it</a:t>
            </a:r>
            <a:endParaRPr lang="en-US" sz="2025" dirty="0"/>
          </a:p>
        </p:txBody>
      </p:sp>
      <p:sp>
        <p:nvSpPr>
          <p:cNvPr id="8" name="Text 5"/>
          <p:cNvSpPr/>
          <p:nvPr/>
        </p:nvSpPr>
        <p:spPr>
          <a:xfrm>
            <a:off x="7574965" y="584685"/>
            <a:ext cx="1134695" cy="206026"/>
          </a:xfrm>
          <a:prstGeom prst="roundRect">
            <a:avLst>
              <a:gd name="adj" fmla="val 4618580"/>
            </a:avLst>
          </a:prstGeom>
          <a:solidFill>
            <a:srgbClr val="8B5CF6">
              <a:alpha val="12000"/>
            </a:srgbClr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7597825" y="595722"/>
            <a:ext cx="1088975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C4B5F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CODES × 3 CHANNELS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60772" y="940408"/>
            <a:ext cx="8222456" cy="1398389"/>
          </a:xfrm>
          <a:prstGeom prst="roundRect">
            <a:avLst>
              <a:gd name="adj" fmla="val 9536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92931" y="1087748"/>
            <a:ext cx="22402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64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2107406" y="1036848"/>
            <a:ext cx="5286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64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PHYSICAL QUBITS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750344" y="1087748"/>
            <a:ext cx="1348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64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FIXES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3707606" y="1087748"/>
            <a:ext cx="205807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64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X-NOISE P=0.10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465527" y="1087748"/>
            <a:ext cx="197896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64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Z-NOISE P=0.10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7160270" y="1087748"/>
            <a:ext cx="139079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64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DEPOLARIZING P=0.05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92931" y="1376176"/>
            <a:ext cx="1470184" cy="1065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E2E8F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3-Qubit Bit-Flip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92931" y="1510122"/>
            <a:ext cx="190423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8B5C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[[3,1,3]]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2107406" y="1419039"/>
            <a:ext cx="845820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E2E8F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44" dirty="0"/>
          </a:p>
        </p:txBody>
      </p:sp>
      <p:sp>
        <p:nvSpPr>
          <p:cNvPr id="20" name="Text 17"/>
          <p:cNvSpPr/>
          <p:nvPr/>
        </p:nvSpPr>
        <p:spPr>
          <a:xfrm>
            <a:off x="2750344" y="1446944"/>
            <a:ext cx="987952" cy="15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2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 bit-flip (X)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3707606" y="1423057"/>
            <a:ext cx="50006" cy="50006"/>
          </a:xfrm>
          <a:prstGeom prst="ellipse">
            <a:avLst/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3807619" y="1394482"/>
            <a:ext cx="1636225" cy="2281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7"/>
              </a:lnSpc>
              <a:buNone/>
            </a:pPr>
            <a:r>
              <a:rPr lang="en-US" sz="800" b="1" dirty="0">
                <a:solidFill>
                  <a:srgbClr val="34D3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MATCHED</a:t>
            </a:r>
            <a:pPr algn="l" indent="0" marL="0">
              <a:lnSpc>
                <a:spcPts val="827"/>
              </a:lnSpc>
              <a:buNone/>
            </a:pPr>
            <a:r>
              <a:rPr lang="en-US" sz="800" dirty="0">
                <a:solidFill>
                  <a:srgbClr val="34D3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100% recovery, 3.6-4.3x improvement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465527" y="1475519"/>
            <a:ext cx="50006" cy="50006"/>
          </a:xfrm>
          <a:prstGeom prst="ellipse">
            <a:avLst/>
          </a:prstGeom>
          <a:solidFill>
            <a:srgbClr val="64748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5565539" y="1446944"/>
            <a:ext cx="1480431" cy="153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7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invisible to syndrome (no harm at low p)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7160270" y="1446944"/>
            <a:ext cx="1390799" cy="15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27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helps (partial recovery)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92931" y="1772655"/>
            <a:ext cx="1470184" cy="1065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E2E8F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3-Qubit Phase-Flip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92931" y="1906600"/>
            <a:ext cx="190423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8B5C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[[3,1,3]]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2107406" y="1815517"/>
            <a:ext cx="845820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E2E8F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44" dirty="0"/>
          </a:p>
        </p:txBody>
      </p:sp>
      <p:sp>
        <p:nvSpPr>
          <p:cNvPr id="29" name="Text 26"/>
          <p:cNvSpPr/>
          <p:nvPr/>
        </p:nvSpPr>
        <p:spPr>
          <a:xfrm>
            <a:off x="2750344" y="1843422"/>
            <a:ext cx="987952" cy="15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2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 phase-flip (Z)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3707606" y="1871997"/>
            <a:ext cx="50006" cy="50006"/>
          </a:xfrm>
          <a:prstGeom prst="ellipse">
            <a:avLst/>
          </a:prstGeom>
          <a:solidFill>
            <a:srgbClr val="FB71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3807619" y="1843422"/>
            <a:ext cx="1543608" cy="153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7"/>
              </a:lnSpc>
              <a:buNone/>
            </a:pPr>
            <a:r>
              <a:rPr lang="en-US" sz="600" b="1" dirty="0">
                <a:solidFill>
                  <a:srgbClr val="FB71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undetectable</a:t>
            </a:r>
            <a:pPr algn="l" indent="0" marL="0">
              <a:lnSpc>
                <a:spcPts val="827"/>
              </a:lnSpc>
              <a:buNone/>
            </a:pPr>
            <a:r>
              <a:rPr lang="en-US" sz="600" dirty="0">
                <a:solidFill>
                  <a:srgbClr val="FB71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logical flip — 0.45x</a:t>
            </a:r>
            <a:endParaRPr lang="en-US" sz="600" dirty="0"/>
          </a:p>
        </p:txBody>
      </p:sp>
      <p:sp>
        <p:nvSpPr>
          <p:cNvPr id="32" name="Text 29"/>
          <p:cNvSpPr/>
          <p:nvPr/>
        </p:nvSpPr>
        <p:spPr>
          <a:xfrm>
            <a:off x="5465527" y="1871997"/>
            <a:ext cx="50006" cy="50006"/>
          </a:xfrm>
          <a:prstGeom prst="ellipse">
            <a:avLst/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5565539" y="1843422"/>
            <a:ext cx="1480431" cy="153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7"/>
              </a:lnSpc>
              <a:buNone/>
            </a:pPr>
            <a:r>
              <a:rPr lang="en-US" sz="800" b="1" dirty="0">
                <a:solidFill>
                  <a:srgbClr val="34D3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MATCHED</a:t>
            </a:r>
            <a:pPr algn="l" indent="0" marL="0">
              <a:lnSpc>
                <a:spcPts val="827"/>
              </a:lnSpc>
              <a:buNone/>
            </a:pPr>
            <a:r>
              <a:rPr lang="en-US" sz="800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— 100% recovery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160270" y="1843422"/>
            <a:ext cx="1390799" cy="15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27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helps (partial recovery)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592931" y="2162882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ⓘ</a:t>
            </a:r>
            <a:endParaRPr lang="en-US" sz="844" dirty="0"/>
          </a:p>
        </p:txBody>
      </p:sp>
      <p:sp>
        <p:nvSpPr>
          <p:cNvPr id="36" name="Text 33"/>
          <p:cNvSpPr/>
          <p:nvPr/>
        </p:nvSpPr>
        <p:spPr>
          <a:xfrm>
            <a:off x="721519" y="2154845"/>
            <a:ext cx="7829550" cy="101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Values from the prototype’s Code Showdown / Monte Carlo at the same seed discipline; improvement = bare error rate / QEC error rate.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457200" y="2479886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8B5C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125" dirty="0"/>
          </a:p>
        </p:txBody>
      </p:sp>
      <p:sp>
        <p:nvSpPr>
          <p:cNvPr id="38" name="Text 35"/>
          <p:cNvSpPr/>
          <p:nvPr/>
        </p:nvSpPr>
        <p:spPr>
          <a:xfrm>
            <a:off x="628650" y="2456669"/>
            <a:ext cx="7525941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References</a:t>
            </a:r>
            <a:endParaRPr lang="en-US" sz="844" dirty="0"/>
          </a:p>
        </p:txBody>
      </p:sp>
      <p:sp>
        <p:nvSpPr>
          <p:cNvPr id="39" name="Text 36"/>
          <p:cNvSpPr/>
          <p:nvPr/>
        </p:nvSpPr>
        <p:spPr>
          <a:xfrm>
            <a:off x="8183166" y="2486137"/>
            <a:ext cx="63735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600" spc="75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STUDIES</a:t>
            </a:r>
            <a:endParaRPr lang="en-US" sz="600" dirty="0"/>
          </a:p>
        </p:txBody>
      </p:sp>
      <p:sp>
        <p:nvSpPr>
          <p:cNvPr id="40" name="Text 37"/>
          <p:cNvSpPr/>
          <p:nvPr/>
        </p:nvSpPr>
        <p:spPr>
          <a:xfrm>
            <a:off x="457200" y="2688841"/>
            <a:ext cx="106821" cy="311859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b="1" dirty="0">
                <a:solidFill>
                  <a:srgbClr val="8B5C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589025" y="2688841"/>
            <a:ext cx="3882963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Padma Priya &amp; Baradeswaran · 2018 — An Efficient Simulation of Quantum Error Correction Codes. </a:t>
            </a:r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QCAD-based simulation of QEC with bit-flip and phase-flip errors.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4672013" y="2688841"/>
            <a:ext cx="106821" cy="311859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b="1" dirty="0">
                <a:solidFill>
                  <a:srgbClr val="8B5C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4803837" y="2688841"/>
            <a:ext cx="3882963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Guo et al. · 2020 — Testing a Quantum Error-Correcting Code on Various Platforms. </a:t>
            </a:r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two-qubit code for detected amplitude damping.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457200" y="2946016"/>
            <a:ext cx="106821" cy="311859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b="1" dirty="0">
                <a:solidFill>
                  <a:srgbClr val="8B5C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589025" y="2946016"/>
            <a:ext cx="3882963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Willsch et al. · 2018 — Testing Quantum Fault Tolerance on Small Systems. </a:t>
            </a:r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Fault-tolerance tests on simulators and an IBM processor.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4672013" y="2946016"/>
            <a:ext cx="106821" cy="311859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b="1" dirty="0">
                <a:solidFill>
                  <a:srgbClr val="8B5C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4803837" y="2946016"/>
            <a:ext cx="3882963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Katsuda et al. · 2024 — Simulation and Performance Analysis of QEC with a Rotated Surface Code under a Realistic Noise Model. </a:t>
            </a:r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Distance-5 surface code under stochastic and coherent noise.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457200" y="3203191"/>
            <a:ext cx="106821" cy="311859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b="1" dirty="0">
                <a:solidFill>
                  <a:srgbClr val="8B5C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589025" y="3203191"/>
            <a:ext cx="3882963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Bravyi et al. · 2018 — Correcting Coherent Errors with Surface Codes. </a:t>
            </a:r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Surface-code QEC under coherent errors.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4672013" y="3203191"/>
            <a:ext cx="106821" cy="311859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b="1" dirty="0">
                <a:solidFill>
                  <a:srgbClr val="8B5C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4803837" y="3203191"/>
            <a:ext cx="3882963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Sundaresan et al. · 2023 — Demonstrating Multi-Round Subsystem QEC Using Matching and Maximum-Likelihood Decoders. </a:t>
            </a:r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Multi-round QEC and syndrome decoding.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457200" y="3460366"/>
            <a:ext cx="106821" cy="311859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b="1" dirty="0">
                <a:solidFill>
                  <a:srgbClr val="8B5C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589025" y="3460366"/>
            <a:ext cx="3882963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Debroy et al. · 2020 — Logical Performance of 9-Qubit Compass Codes in Ion Traps with Crosstalk. </a:t>
            </a:r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QEC under dephasing, over-rotation and crosstalk.</a:t>
            </a:r>
            <a:endParaRPr lang="en-US" sz="800" dirty="0"/>
          </a:p>
        </p:txBody>
      </p:sp>
      <p:sp>
        <p:nvSpPr>
          <p:cNvPr id="54" name="Text 51"/>
          <p:cNvSpPr/>
          <p:nvPr/>
        </p:nvSpPr>
        <p:spPr>
          <a:xfrm>
            <a:off x="4672013" y="3460366"/>
            <a:ext cx="106821" cy="311859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b="1" dirty="0">
                <a:solidFill>
                  <a:srgbClr val="8B5C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4803837" y="3460366"/>
            <a:ext cx="3882963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Garner et al. · 2026 — Simulation of Thermal-Relaxation Noise for Quantum Error Correction. </a:t>
            </a:r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Accurate thermal-relaxation simulation for QEC.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457200" y="3717541"/>
            <a:ext cx="106821" cy="311859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b="1" dirty="0">
                <a:solidFill>
                  <a:srgbClr val="8B5C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57" name="Text 54"/>
          <p:cNvSpPr/>
          <p:nvPr/>
        </p:nvSpPr>
        <p:spPr>
          <a:xfrm>
            <a:off x="589025" y="3717541"/>
            <a:ext cx="3882963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Hines et al. · 2026 — Simulating QEC beyond Pauli Stochastic Errors. </a:t>
            </a:r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Coherent and non-Pauli errors via detector error models.</a:t>
            </a:r>
            <a:endParaRPr lang="en-US" sz="800" dirty="0"/>
          </a:p>
        </p:txBody>
      </p:sp>
      <p:sp>
        <p:nvSpPr>
          <p:cNvPr id="58" name="Text 55"/>
          <p:cNvSpPr/>
          <p:nvPr/>
        </p:nvSpPr>
        <p:spPr>
          <a:xfrm>
            <a:off x="4672013" y="3717541"/>
            <a:ext cx="106821" cy="311859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b="1" dirty="0">
                <a:solidFill>
                  <a:srgbClr val="8B5C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</a:t>
            </a:r>
            <a:endParaRPr lang="en-US" sz="800" dirty="0"/>
          </a:p>
        </p:txBody>
      </p:sp>
      <p:sp>
        <p:nvSpPr>
          <p:cNvPr id="59" name="Text 56"/>
          <p:cNvSpPr/>
          <p:nvPr/>
        </p:nvSpPr>
        <p:spPr>
          <a:xfrm>
            <a:off x="4803837" y="3717541"/>
            <a:ext cx="3882963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Kaur et al. · 2026 — Comparative Performance Analysis of QEC Codes under Simulated Depolarizing Noise using Qiskit. </a:t>
            </a:r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3-qubit bit-flip, phase-flip and Shor codes under depolarizing noise — our reference-program lineage.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" y="4432697"/>
            <a:ext cx="731520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371475"/>
            <a:ext cx="8636000" cy="127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PHASE 2 · THE FLOW — DEPLOY &amp; USE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57200" y="526852"/>
            <a:ext cx="8636000" cy="31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spc="-20" kern="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From repository to live simulator</a:t>
            </a:r>
            <a:endParaRPr lang="en-US" sz="2025" dirty="0"/>
          </a:p>
        </p:txBody>
      </p:sp>
      <p:sp>
        <p:nvSpPr>
          <p:cNvPr id="6" name="Text 3"/>
          <p:cNvSpPr/>
          <p:nvPr/>
        </p:nvSpPr>
        <p:spPr>
          <a:xfrm>
            <a:off x="460772" y="968983"/>
            <a:ext cx="8222456" cy="1001911"/>
          </a:xfrm>
          <a:prstGeom prst="roundRect">
            <a:avLst>
              <a:gd name="adj" fmla="val 13310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92931" y="1106500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↑</a:t>
            </a:r>
            <a:endParaRPr lang="en-US" sz="1195" dirty="0"/>
          </a:p>
        </p:txBody>
      </p:sp>
      <p:sp>
        <p:nvSpPr>
          <p:cNvPr id="8" name="Text 5"/>
          <p:cNvSpPr/>
          <p:nvPr/>
        </p:nvSpPr>
        <p:spPr>
          <a:xfrm>
            <a:off x="771525" y="1086855"/>
            <a:ext cx="6542336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Deployment flow</a:t>
            </a:r>
            <a:endParaRPr lang="en-US" sz="844" dirty="0"/>
          </a:p>
        </p:txBody>
      </p:sp>
      <p:sp>
        <p:nvSpPr>
          <p:cNvPr id="9" name="Text 6"/>
          <p:cNvSpPr/>
          <p:nvPr/>
        </p:nvSpPr>
        <p:spPr>
          <a:xfrm>
            <a:off x="7342436" y="1116323"/>
            <a:ext cx="120863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600" spc="75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BRANCH → PRODUCTION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592931" y="1320512"/>
            <a:ext cx="1347043" cy="368503"/>
          </a:xfrm>
          <a:prstGeom prst="roundRect">
            <a:avLst>
              <a:gd name="adj" fmla="val 31017"/>
            </a:avLst>
          </a:prstGeom>
          <a:solidFill>
            <a:srgbClr val="22D3EE">
              <a:alpha val="6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869424" y="1448507"/>
            <a:ext cx="79394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(main)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1982837" y="144047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1266" dirty="0"/>
          </a:p>
        </p:txBody>
      </p:sp>
      <p:sp>
        <p:nvSpPr>
          <p:cNvPr id="13" name="Text 10"/>
          <p:cNvSpPr/>
          <p:nvPr/>
        </p:nvSpPr>
        <p:spPr>
          <a:xfrm>
            <a:off x="2154287" y="1320512"/>
            <a:ext cx="1347043" cy="368503"/>
          </a:xfrm>
          <a:prstGeom prst="roundRect">
            <a:avLst>
              <a:gd name="adj" fmla="val 31017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377919" y="1448507"/>
            <a:ext cx="89977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 repository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3544193" y="144047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1266" dirty="0"/>
          </a:p>
        </p:txBody>
      </p:sp>
      <p:sp>
        <p:nvSpPr>
          <p:cNvPr id="16" name="Text 13"/>
          <p:cNvSpPr/>
          <p:nvPr/>
        </p:nvSpPr>
        <p:spPr>
          <a:xfrm>
            <a:off x="3719215" y="1336886"/>
            <a:ext cx="1705459" cy="335756"/>
          </a:xfrm>
          <a:prstGeom prst="roundRect">
            <a:avLst>
              <a:gd name="adj" fmla="val 34043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3779937" y="1448507"/>
            <a:ext cx="164556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Vercel import (auto-detect Next.js)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5471108" y="144047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1266" dirty="0"/>
          </a:p>
        </p:txBody>
      </p:sp>
      <p:sp>
        <p:nvSpPr>
          <p:cNvPr id="19" name="Text 16"/>
          <p:cNvSpPr/>
          <p:nvPr/>
        </p:nvSpPr>
        <p:spPr>
          <a:xfrm>
            <a:off x="5642558" y="1320512"/>
            <a:ext cx="1347043" cy="368503"/>
          </a:xfrm>
          <a:prstGeom prst="roundRect">
            <a:avLst>
              <a:gd name="adj" fmla="val 31017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786782" y="1448507"/>
            <a:ext cx="105859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next build (1-2 min)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7032464" y="144047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1266" dirty="0"/>
          </a:p>
        </p:txBody>
      </p:sp>
      <p:sp>
        <p:nvSpPr>
          <p:cNvPr id="22" name="Text 19"/>
          <p:cNvSpPr/>
          <p:nvPr/>
        </p:nvSpPr>
        <p:spPr>
          <a:xfrm>
            <a:off x="7203914" y="1320512"/>
            <a:ext cx="1347043" cy="368503"/>
          </a:xfrm>
          <a:prstGeom prst="roundRect">
            <a:avLst>
              <a:gd name="adj" fmla="val 31017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7613117" y="1451186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055" dirty="0"/>
          </a:p>
        </p:txBody>
      </p:sp>
      <p:sp>
        <p:nvSpPr>
          <p:cNvPr id="24" name="Text 21"/>
          <p:cNvSpPr/>
          <p:nvPr/>
        </p:nvSpPr>
        <p:spPr>
          <a:xfrm>
            <a:off x="7681645" y="1445828"/>
            <a:ext cx="54148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URL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92931" y="1754795"/>
            <a:ext cx="7958138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env vars · no database · zero server compute — every push to main redeploys automatically.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460772" y="2092337"/>
            <a:ext cx="8222456" cy="853678"/>
          </a:xfrm>
          <a:prstGeom prst="roundRect">
            <a:avLst>
              <a:gd name="adj" fmla="val 15621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592931" y="2229855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8B5C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195" dirty="0"/>
          </a:p>
        </p:txBody>
      </p:sp>
      <p:sp>
        <p:nvSpPr>
          <p:cNvPr id="28" name="Text 25"/>
          <p:cNvSpPr/>
          <p:nvPr/>
        </p:nvSpPr>
        <p:spPr>
          <a:xfrm>
            <a:off x="771525" y="2210209"/>
            <a:ext cx="6693359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User flow</a:t>
            </a:r>
            <a:endParaRPr lang="en-US" sz="844" dirty="0"/>
          </a:p>
        </p:txBody>
      </p:sp>
      <p:sp>
        <p:nvSpPr>
          <p:cNvPr id="29" name="Text 26"/>
          <p:cNvSpPr/>
          <p:nvPr/>
        </p:nvSpPr>
        <p:spPr>
          <a:xfrm>
            <a:off x="7493459" y="2239677"/>
            <a:ext cx="105761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600" spc="75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TABS · ONE PIPELINE</a:t>
            </a:r>
            <a:endParaRPr lang="en-US" sz="600" dirty="0"/>
          </a:p>
        </p:txBody>
      </p:sp>
      <p:sp>
        <p:nvSpPr>
          <p:cNvPr id="30" name="Text 27"/>
          <p:cNvSpPr/>
          <p:nvPr/>
        </p:nvSpPr>
        <p:spPr>
          <a:xfrm>
            <a:off x="596503" y="2460241"/>
            <a:ext cx="1328514" cy="378619"/>
          </a:xfrm>
          <a:prstGeom prst="roundRect">
            <a:avLst>
              <a:gd name="adj" fmla="val 30189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1026874" y="2546970"/>
            <a:ext cx="46777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809"/>
              </a:lnSpc>
              <a:buNone/>
            </a:pPr>
            <a:r>
              <a:rPr lang="en-US" sz="647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Overview</a:t>
            </a:r>
            <a:endParaRPr lang="en-US" sz="647" dirty="0"/>
          </a:p>
        </p:txBody>
      </p:sp>
      <p:sp>
        <p:nvSpPr>
          <p:cNvPr id="32" name="Text 29"/>
          <p:cNvSpPr/>
          <p:nvPr/>
        </p:nvSpPr>
        <p:spPr>
          <a:xfrm>
            <a:off x="988411" y="2663949"/>
            <a:ext cx="544586" cy="135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95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it works</a:t>
            </a:r>
            <a:endParaRPr lang="en-US" sz="600" dirty="0"/>
          </a:p>
        </p:txBody>
      </p:sp>
      <p:sp>
        <p:nvSpPr>
          <p:cNvPr id="33" name="Text 30"/>
          <p:cNvSpPr/>
          <p:nvPr/>
        </p:nvSpPr>
        <p:spPr>
          <a:xfrm>
            <a:off x="1971452" y="258525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1266" dirty="0"/>
          </a:p>
        </p:txBody>
      </p:sp>
      <p:sp>
        <p:nvSpPr>
          <p:cNvPr id="34" name="Text 31"/>
          <p:cNvSpPr/>
          <p:nvPr/>
        </p:nvSpPr>
        <p:spPr>
          <a:xfrm>
            <a:off x="2146474" y="2460241"/>
            <a:ext cx="1328514" cy="378619"/>
          </a:xfrm>
          <a:prstGeom prst="roundRect">
            <a:avLst>
              <a:gd name="adj" fmla="val 30189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2470633" y="2546970"/>
            <a:ext cx="68019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809"/>
              </a:lnSpc>
              <a:buNone/>
            </a:pPr>
            <a:r>
              <a:rPr lang="en-US" sz="647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Simulator Lab</a:t>
            </a:r>
            <a:endParaRPr lang="en-US" sz="647" dirty="0"/>
          </a:p>
        </p:txBody>
      </p:sp>
      <p:sp>
        <p:nvSpPr>
          <p:cNvPr id="36" name="Text 33"/>
          <p:cNvSpPr/>
          <p:nvPr/>
        </p:nvSpPr>
        <p:spPr>
          <a:xfrm>
            <a:off x="2585194" y="2663949"/>
            <a:ext cx="451074" cy="135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95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run a shot</a:t>
            </a:r>
            <a:endParaRPr lang="en-US" sz="600" dirty="0"/>
          </a:p>
        </p:txBody>
      </p:sp>
      <p:sp>
        <p:nvSpPr>
          <p:cNvPr id="37" name="Text 34"/>
          <p:cNvSpPr/>
          <p:nvPr/>
        </p:nvSpPr>
        <p:spPr>
          <a:xfrm>
            <a:off x="3521422" y="258525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1266" dirty="0"/>
          </a:p>
        </p:txBody>
      </p:sp>
      <p:sp>
        <p:nvSpPr>
          <p:cNvPr id="38" name="Text 35"/>
          <p:cNvSpPr/>
          <p:nvPr/>
        </p:nvSpPr>
        <p:spPr>
          <a:xfrm>
            <a:off x="3696444" y="2460241"/>
            <a:ext cx="1751000" cy="378619"/>
          </a:xfrm>
          <a:prstGeom prst="roundRect">
            <a:avLst>
              <a:gd name="adj" fmla="val 30189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4186745" y="2546970"/>
            <a:ext cx="770399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809"/>
              </a:lnSpc>
              <a:buNone/>
            </a:pPr>
            <a:r>
              <a:rPr lang="en-US" sz="647" dirty="0">
                <a:solidFill>
                  <a:srgbClr val="E2E8F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3D Quantum Lab</a:t>
            </a:r>
            <a:endParaRPr lang="en-US" sz="647" dirty="0"/>
          </a:p>
        </p:txBody>
      </p:sp>
      <p:sp>
        <p:nvSpPr>
          <p:cNvPr id="40" name="Text 37"/>
          <p:cNvSpPr/>
          <p:nvPr/>
        </p:nvSpPr>
        <p:spPr>
          <a:xfrm>
            <a:off x="4068254" y="2663949"/>
            <a:ext cx="1007269" cy="135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95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Bloch sphere walkthrough &amp; flight</a:t>
            </a:r>
            <a:endParaRPr lang="en-US" sz="600" dirty="0"/>
          </a:p>
        </p:txBody>
      </p:sp>
      <p:sp>
        <p:nvSpPr>
          <p:cNvPr id="41" name="Text 38"/>
          <p:cNvSpPr/>
          <p:nvPr/>
        </p:nvSpPr>
        <p:spPr>
          <a:xfrm>
            <a:off x="5493879" y="258525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1266" dirty="0"/>
          </a:p>
        </p:txBody>
      </p:sp>
      <p:sp>
        <p:nvSpPr>
          <p:cNvPr id="42" name="Text 39"/>
          <p:cNvSpPr/>
          <p:nvPr/>
        </p:nvSpPr>
        <p:spPr>
          <a:xfrm>
            <a:off x="5668900" y="2460241"/>
            <a:ext cx="1328514" cy="378619"/>
          </a:xfrm>
          <a:prstGeom prst="roundRect">
            <a:avLst>
              <a:gd name="adj" fmla="val 30189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5939792" y="2546970"/>
            <a:ext cx="78662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809"/>
              </a:lnSpc>
              <a:buNone/>
            </a:pPr>
            <a:r>
              <a:rPr lang="en-US" sz="647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 Lab</a:t>
            </a:r>
            <a:endParaRPr lang="en-US" sz="647" dirty="0"/>
          </a:p>
        </p:txBody>
      </p:sp>
      <p:sp>
        <p:nvSpPr>
          <p:cNvPr id="44" name="Text 41"/>
          <p:cNvSpPr/>
          <p:nvPr/>
        </p:nvSpPr>
        <p:spPr>
          <a:xfrm>
            <a:off x="5936260" y="2663949"/>
            <a:ext cx="793684" cy="135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95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Monte Carlo + sweeps</a:t>
            </a:r>
            <a:endParaRPr lang="en-US" sz="600" dirty="0"/>
          </a:p>
        </p:txBody>
      </p:sp>
      <p:sp>
        <p:nvSpPr>
          <p:cNvPr id="45" name="Text 42"/>
          <p:cNvSpPr/>
          <p:nvPr/>
        </p:nvSpPr>
        <p:spPr>
          <a:xfrm>
            <a:off x="7043849" y="258525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1266" dirty="0"/>
          </a:p>
        </p:txBody>
      </p:sp>
      <p:sp>
        <p:nvSpPr>
          <p:cNvPr id="46" name="Text 43"/>
          <p:cNvSpPr/>
          <p:nvPr/>
        </p:nvSpPr>
        <p:spPr>
          <a:xfrm>
            <a:off x="7218871" y="2460241"/>
            <a:ext cx="1328514" cy="378619"/>
          </a:xfrm>
          <a:prstGeom prst="roundRect">
            <a:avLst>
              <a:gd name="adj" fmla="val 30189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4"/>
          <p:cNvSpPr/>
          <p:nvPr/>
        </p:nvSpPr>
        <p:spPr>
          <a:xfrm>
            <a:off x="7687262" y="2546970"/>
            <a:ext cx="39162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809"/>
              </a:lnSpc>
              <a:buNone/>
            </a:pPr>
            <a:r>
              <a:rPr lang="en-US" sz="647" dirty="0">
                <a:solidFill>
                  <a:srgbClr val="34D3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Exports</a:t>
            </a:r>
            <a:endParaRPr lang="en-US" sz="647" dirty="0"/>
          </a:p>
        </p:txBody>
      </p:sp>
      <p:sp>
        <p:nvSpPr>
          <p:cNvPr id="48" name="Text 45"/>
          <p:cNvSpPr/>
          <p:nvPr/>
        </p:nvSpPr>
        <p:spPr>
          <a:xfrm>
            <a:off x="7500238" y="2663949"/>
            <a:ext cx="765780" cy="135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95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PDF / JSON / CSV</a:t>
            </a:r>
            <a:endParaRPr lang="en-US" sz="600" dirty="0"/>
          </a:p>
        </p:txBody>
      </p:sp>
      <p:sp>
        <p:nvSpPr>
          <p:cNvPr id="49" name="Text 46"/>
          <p:cNvSpPr/>
          <p:nvPr/>
        </p:nvSpPr>
        <p:spPr>
          <a:xfrm>
            <a:off x="460772" y="4063566"/>
            <a:ext cx="8222456" cy="704887"/>
          </a:xfrm>
          <a:prstGeom prst="roundRect">
            <a:avLst>
              <a:gd name="adj" fmla="val 18918"/>
            </a:avLst>
          </a:prstGeom>
          <a:solidFill>
            <a:srgbClr val="8B5CF6">
              <a:alpha val="7000"/>
            </a:srgbClr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7"/>
          <p:cNvSpPr/>
          <p:nvPr/>
        </p:nvSpPr>
        <p:spPr>
          <a:xfrm>
            <a:off x="592931" y="4201083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8B5C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195" dirty="0"/>
          </a:p>
        </p:txBody>
      </p:sp>
      <p:sp>
        <p:nvSpPr>
          <p:cNvPr id="51" name="Text 48"/>
          <p:cNvSpPr/>
          <p:nvPr/>
        </p:nvSpPr>
        <p:spPr>
          <a:xfrm>
            <a:off x="771525" y="4181438"/>
            <a:ext cx="7779544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44" dirty="0"/>
          </a:p>
        </p:txBody>
      </p:sp>
      <p:sp>
        <p:nvSpPr>
          <p:cNvPr id="52" name="Text 49"/>
          <p:cNvSpPr/>
          <p:nvPr/>
        </p:nvSpPr>
        <p:spPr>
          <a:xfrm>
            <a:off x="592931" y="4435041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5C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▸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683344" y="4435041"/>
            <a:ext cx="1941872" cy="1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600" b="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Quantum_error_correction_Phase1+Phase2.pptx</a:t>
            </a:r>
            <a:endParaRPr lang="en-US" sz="600" dirty="0"/>
          </a:p>
        </p:txBody>
      </p:sp>
      <p:sp>
        <p:nvSpPr>
          <p:cNvPr id="54" name="Text 51"/>
          <p:cNvSpPr/>
          <p:nvPr/>
        </p:nvSpPr>
        <p:spPr>
          <a:xfrm>
            <a:off x="592931" y="4550569"/>
            <a:ext cx="2557463" cy="107156"/>
          </a:xfrm>
          <a:prstGeom prst="rect">
            <a:avLst/>
          </a:prstGeom>
          <a:noFill/>
          <a:ln/>
        </p:spPr>
        <p:txBody>
          <a:bodyPr wrap="none" lIns="92869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this deck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3293269" y="4435041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5C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▸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3383682" y="4435041"/>
            <a:ext cx="1170548" cy="1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600" b="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QEC-Simulator-Report.pdf</a:t>
            </a:r>
            <a:endParaRPr lang="en-US" sz="600" dirty="0"/>
          </a:p>
        </p:txBody>
      </p:sp>
      <p:sp>
        <p:nvSpPr>
          <p:cNvPr id="57" name="Text 54"/>
          <p:cNvSpPr/>
          <p:nvPr/>
        </p:nvSpPr>
        <p:spPr>
          <a:xfrm>
            <a:off x="3293269" y="4550569"/>
            <a:ext cx="2557463" cy="107156"/>
          </a:xfrm>
          <a:prstGeom prst="rect">
            <a:avLst/>
          </a:prstGeom>
          <a:noFill/>
          <a:ln/>
        </p:spPr>
        <p:txBody>
          <a:bodyPr wrap="square" lIns="92869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merged Phase 1 + Phase 2 report</a:t>
            </a:r>
            <a:endParaRPr lang="en-US" sz="800" dirty="0"/>
          </a:p>
        </p:txBody>
      </p:sp>
      <p:sp>
        <p:nvSpPr>
          <p:cNvPr id="58" name="Text 55"/>
          <p:cNvSpPr/>
          <p:nvPr/>
        </p:nvSpPr>
        <p:spPr>
          <a:xfrm>
            <a:off x="5993606" y="4435041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5C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▸</a:t>
            </a:r>
            <a:endParaRPr lang="en-US" sz="800" dirty="0"/>
          </a:p>
        </p:txBody>
      </p:sp>
      <p:sp>
        <p:nvSpPr>
          <p:cNvPr id="59" name="Text 56"/>
          <p:cNvSpPr/>
          <p:nvPr/>
        </p:nvSpPr>
        <p:spPr>
          <a:xfrm>
            <a:off x="6084019" y="4435041"/>
            <a:ext cx="1316897" cy="1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600" b="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QEC-Simulator-Prototype.zip</a:t>
            </a:r>
            <a:endParaRPr lang="en-US" sz="600" dirty="0"/>
          </a:p>
        </p:txBody>
      </p:sp>
      <p:sp>
        <p:nvSpPr>
          <p:cNvPr id="60" name="Text 57"/>
          <p:cNvSpPr/>
          <p:nvPr/>
        </p:nvSpPr>
        <p:spPr>
          <a:xfrm>
            <a:off x="5993606" y="4550569"/>
            <a:ext cx="2557463" cy="107156"/>
          </a:xfrm>
          <a:prstGeom prst="rect">
            <a:avLst/>
          </a:prstGeom>
          <a:noFill/>
          <a:ln/>
        </p:spPr>
        <p:txBody>
          <a:bodyPr wrap="square" lIns="92869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deployable source + README deploy guide</a:t>
            </a:r>
            <a:endParaRPr lang="en-US" sz="800" dirty="0"/>
          </a:p>
        </p:txBody>
      </p:sp>
      <p:sp>
        <p:nvSpPr>
          <p:cNvPr id="61" name="Text 58"/>
          <p:cNvSpPr/>
          <p:nvPr/>
        </p:nvSpPr>
        <p:spPr>
          <a:xfrm>
            <a:off x="914400" y="4507706"/>
            <a:ext cx="583655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Interactive Quantum Error Correction Simulator — Phase 1 + Phase 2</a:t>
            </a:r>
            <a:endParaRPr lang="en-US" sz="800" dirty="0"/>
          </a:p>
        </p:txBody>
      </p:sp>
      <p:sp>
        <p:nvSpPr>
          <p:cNvPr id="62" name="Text 59"/>
          <p:cNvSpPr/>
          <p:nvPr/>
        </p:nvSpPr>
        <p:spPr>
          <a:xfrm>
            <a:off x="6765243" y="4507706"/>
            <a:ext cx="1552219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10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AMRITA VISHWA VIDYAPEETHAM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2026-10-14T06:45:37Z</dcterms:created>
  <dcterms:modified xsi:type="dcterms:W3CDTF">2026-10-14T06:45:37Z</dcterms:modified>
</cp:coreProperties>
</file>